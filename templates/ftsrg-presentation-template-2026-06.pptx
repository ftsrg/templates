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20"/>
  </p:notesMasterIdLst>
  <p:sldIdLst>
    <p:sldId id="321" r:id="rId5"/>
    <p:sldId id="323" r:id="rId6"/>
    <p:sldId id="322" r:id="rId7"/>
    <p:sldId id="266" r:id="rId8"/>
    <p:sldId id="263" r:id="rId9"/>
    <p:sldId id="264" r:id="rId10"/>
    <p:sldId id="267" r:id="rId11"/>
    <p:sldId id="271" r:id="rId12"/>
    <p:sldId id="273" r:id="rId13"/>
    <p:sldId id="268" r:id="rId14"/>
    <p:sldId id="269" r:id="rId15"/>
    <p:sldId id="274" r:id="rId16"/>
    <p:sldId id="270" r:id="rId17"/>
    <p:sldId id="272" r:id="rId18"/>
    <p:sldId id="326" r:id="rId19"/>
  </p:sldIdLst>
  <p:sldSz cx="12192000" cy="6858000"/>
  <p:notesSz cx="6858000" cy="9144000"/>
  <p:embeddedFontLst>
    <p:embeddedFont>
      <p:font typeface="Muli ExtraBold" panose="020B0604020202020204" charset="0"/>
      <p:bold r:id="rId21"/>
      <p:boldItalic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  <p:embeddedFont>
      <p:font typeface="Open Sans ExtraBold" panose="020B0906030804020204" pitchFamily="34" charset="0"/>
      <p:bold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2B61"/>
    <a:srgbClr val="283C88"/>
    <a:srgbClr val="253E8E"/>
    <a:srgbClr val="5F2C60"/>
    <a:srgbClr val="2B3D8A"/>
    <a:srgbClr val="0D4F97"/>
    <a:srgbClr val="4464AD"/>
    <a:srgbClr val="615756"/>
    <a:srgbClr val="503D3F"/>
    <a:srgbClr val="3A7D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670" autoAdjust="0"/>
  </p:normalViewPr>
  <p:slideViewPr>
    <p:cSldViewPr snapToGrid="0">
      <p:cViewPr>
        <p:scale>
          <a:sx n="66" d="100"/>
          <a:sy n="66" d="100"/>
        </p:scale>
        <p:origin x="1301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F21598-D04F-46A5-A374-1B0F61C6D6E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4D6F46-CBB6-4025-8352-957074602846}">
      <dgm:prSet phldrT="[Text]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/>
            <a:t>Attributes of dependability</a:t>
          </a:r>
        </a:p>
      </dgm:t>
    </dgm:pt>
    <dgm:pt modelId="{22524168-2650-44BF-A7A3-EA90CED5B438}" type="parTrans" cxnId="{F58E9799-FBC8-46C9-93E1-F38A20C28EA4}">
      <dgm:prSet/>
      <dgm:spPr/>
      <dgm:t>
        <a:bodyPr/>
        <a:lstStyle/>
        <a:p>
          <a:endParaRPr lang="en-US"/>
        </a:p>
      </dgm:t>
    </dgm:pt>
    <dgm:pt modelId="{8D902639-0FCD-4A9D-85F8-68AE19ECD535}" type="sibTrans" cxnId="{F58E9799-FBC8-46C9-93E1-F38A20C28EA4}">
      <dgm:prSet/>
      <dgm:spPr>
        <a:solidFill>
          <a:schemeClr val="accent1"/>
        </a:solidFill>
        <a:ln w="12700">
          <a:solidFill>
            <a:schemeClr val="accent1"/>
          </a:solidFill>
        </a:ln>
      </dgm:spPr>
      <dgm:t>
        <a:bodyPr/>
        <a:lstStyle/>
        <a:p>
          <a:endParaRPr lang="en-US"/>
        </a:p>
      </dgm:t>
    </dgm:pt>
    <dgm:pt modelId="{5E36DC6D-7265-444C-8517-DC85F0A9C8DD}">
      <dgm:prSet phldrT="[Text]"/>
      <dgm:spPr/>
      <dgm:t>
        <a:bodyPr/>
        <a:lstStyle/>
        <a:p>
          <a:r>
            <a:rPr lang="en-US"/>
            <a:t>Combinatorial models</a:t>
          </a:r>
        </a:p>
      </dgm:t>
    </dgm:pt>
    <dgm:pt modelId="{4B36342E-3264-4D4E-A2AD-2C424FBAABA2}" type="parTrans" cxnId="{C431D6B9-096B-4817-9C30-E9DA84A631F9}">
      <dgm:prSet/>
      <dgm:spPr/>
      <dgm:t>
        <a:bodyPr/>
        <a:lstStyle/>
        <a:p>
          <a:endParaRPr lang="en-US"/>
        </a:p>
      </dgm:t>
    </dgm:pt>
    <dgm:pt modelId="{1D47F358-54D9-404D-A84B-93689BEFC7FB}" type="sibTrans" cxnId="{C431D6B9-096B-4817-9C30-E9DA84A631F9}">
      <dgm:prSet/>
      <dgm:spPr/>
      <dgm:t>
        <a:bodyPr/>
        <a:lstStyle/>
        <a:p>
          <a:endParaRPr lang="en-US"/>
        </a:p>
      </dgm:t>
    </dgm:pt>
    <dgm:pt modelId="{627E755D-BA91-47AC-9C70-975ED5CA865C}">
      <dgm:prSet phldrT="[Text]"/>
      <dgm:spPr/>
      <dgm:t>
        <a:bodyPr/>
        <a:lstStyle/>
        <a:p>
          <a:r>
            <a:rPr lang="en-US"/>
            <a:t>Stochastic models</a:t>
          </a:r>
        </a:p>
      </dgm:t>
    </dgm:pt>
    <dgm:pt modelId="{C50F3CA0-DF24-46A6-94BC-FAC3B2621CF8}" type="parTrans" cxnId="{BB8FF072-1AAB-4A2F-AAE8-70D57040A861}">
      <dgm:prSet/>
      <dgm:spPr/>
      <dgm:t>
        <a:bodyPr/>
        <a:lstStyle/>
        <a:p>
          <a:endParaRPr lang="en-US"/>
        </a:p>
      </dgm:t>
    </dgm:pt>
    <dgm:pt modelId="{8CB522D7-B6B8-49D0-BD40-498D41B1566C}" type="sibTrans" cxnId="{BB8FF072-1AAB-4A2F-AAE8-70D57040A861}">
      <dgm:prSet/>
      <dgm:spPr/>
      <dgm:t>
        <a:bodyPr/>
        <a:lstStyle/>
        <a:p>
          <a:endParaRPr lang="en-US"/>
        </a:p>
      </dgm:t>
    </dgm:pt>
    <dgm:pt modelId="{14DC023D-6BEA-43FF-92CA-94BA91BA420C}" type="pres">
      <dgm:prSet presAssocID="{61F21598-D04F-46A5-A374-1B0F61C6D6E8}" presName="Name0" presStyleCnt="0">
        <dgm:presLayoutVars>
          <dgm:chMax val="7"/>
          <dgm:chPref val="7"/>
          <dgm:dir/>
        </dgm:presLayoutVars>
      </dgm:prSet>
      <dgm:spPr/>
    </dgm:pt>
    <dgm:pt modelId="{CA8055DB-5812-49B2-ADAC-B4DE027269A0}" type="pres">
      <dgm:prSet presAssocID="{61F21598-D04F-46A5-A374-1B0F61C6D6E8}" presName="Name1" presStyleCnt="0"/>
      <dgm:spPr/>
    </dgm:pt>
    <dgm:pt modelId="{58CA50E0-830A-4AA1-97D3-86C2DC2AEC96}" type="pres">
      <dgm:prSet presAssocID="{61F21598-D04F-46A5-A374-1B0F61C6D6E8}" presName="cycle" presStyleCnt="0"/>
      <dgm:spPr/>
    </dgm:pt>
    <dgm:pt modelId="{6A7B0600-0F2B-41DE-900C-5257C21B0D1B}" type="pres">
      <dgm:prSet presAssocID="{61F21598-D04F-46A5-A374-1B0F61C6D6E8}" presName="srcNode" presStyleLbl="node1" presStyleIdx="0" presStyleCnt="3"/>
      <dgm:spPr/>
    </dgm:pt>
    <dgm:pt modelId="{C56E76C2-3B61-4158-877D-4C56B4FCE149}" type="pres">
      <dgm:prSet presAssocID="{61F21598-D04F-46A5-A374-1B0F61C6D6E8}" presName="conn" presStyleLbl="parChTrans1D2" presStyleIdx="0" presStyleCnt="1"/>
      <dgm:spPr/>
    </dgm:pt>
    <dgm:pt modelId="{D08FD00B-68DE-4896-82BD-24714767535E}" type="pres">
      <dgm:prSet presAssocID="{61F21598-D04F-46A5-A374-1B0F61C6D6E8}" presName="extraNode" presStyleLbl="node1" presStyleIdx="0" presStyleCnt="3"/>
      <dgm:spPr/>
    </dgm:pt>
    <dgm:pt modelId="{84E15CAB-7FAC-4A40-A0CA-E42A72768BB2}" type="pres">
      <dgm:prSet presAssocID="{61F21598-D04F-46A5-A374-1B0F61C6D6E8}" presName="dstNode" presStyleLbl="node1" presStyleIdx="0" presStyleCnt="3"/>
      <dgm:spPr/>
    </dgm:pt>
    <dgm:pt modelId="{438052B9-EBEE-4201-B910-9D1F4B195CE2}" type="pres">
      <dgm:prSet presAssocID="{484D6F46-CBB6-4025-8352-957074602846}" presName="text_1" presStyleLbl="node1" presStyleIdx="0" presStyleCnt="3">
        <dgm:presLayoutVars>
          <dgm:bulletEnabled val="1"/>
        </dgm:presLayoutVars>
      </dgm:prSet>
      <dgm:spPr/>
    </dgm:pt>
    <dgm:pt modelId="{4A670E73-18F3-406C-8431-2300E5971DD5}" type="pres">
      <dgm:prSet presAssocID="{484D6F46-CBB6-4025-8352-957074602846}" presName="accent_1" presStyleCnt="0"/>
      <dgm:spPr/>
    </dgm:pt>
    <dgm:pt modelId="{4D22CFC8-227A-4610-82A6-0D4BB29C7C24}" type="pres">
      <dgm:prSet presAssocID="{484D6F46-CBB6-4025-8352-957074602846}" presName="accentRepeatNode" presStyleLbl="solidFgAcc1" presStyleIdx="0" presStyleCnt="3"/>
      <dgm:spPr>
        <a:ln w="28575">
          <a:solidFill>
            <a:schemeClr val="accent1"/>
          </a:solidFill>
        </a:ln>
      </dgm:spPr>
    </dgm:pt>
    <dgm:pt modelId="{A1F900AF-9F05-4AA3-A4B5-81C4AE3EDCC6}" type="pres">
      <dgm:prSet presAssocID="{5E36DC6D-7265-444C-8517-DC85F0A9C8DD}" presName="text_2" presStyleLbl="node1" presStyleIdx="1" presStyleCnt="3">
        <dgm:presLayoutVars>
          <dgm:bulletEnabled val="1"/>
        </dgm:presLayoutVars>
      </dgm:prSet>
      <dgm:spPr/>
    </dgm:pt>
    <dgm:pt modelId="{28F64679-69B5-4749-ADE4-D0D6115BBDDA}" type="pres">
      <dgm:prSet presAssocID="{5E36DC6D-7265-444C-8517-DC85F0A9C8DD}" presName="accent_2" presStyleCnt="0"/>
      <dgm:spPr/>
    </dgm:pt>
    <dgm:pt modelId="{72B24986-1F4E-49E4-A605-2477D3FDFA03}" type="pres">
      <dgm:prSet presAssocID="{5E36DC6D-7265-444C-8517-DC85F0A9C8DD}" presName="accentRepeatNode" presStyleLbl="solidFgAcc1" presStyleIdx="1" presStyleCnt="3"/>
      <dgm:spPr>
        <a:ln w="28575">
          <a:solidFill>
            <a:schemeClr val="accent1"/>
          </a:solidFill>
        </a:ln>
      </dgm:spPr>
    </dgm:pt>
    <dgm:pt modelId="{4DA257A4-FBE9-4E62-94A4-BD55E3FA60DB}" type="pres">
      <dgm:prSet presAssocID="{627E755D-BA91-47AC-9C70-975ED5CA865C}" presName="text_3" presStyleLbl="node1" presStyleIdx="2" presStyleCnt="3">
        <dgm:presLayoutVars>
          <dgm:bulletEnabled val="1"/>
        </dgm:presLayoutVars>
      </dgm:prSet>
      <dgm:spPr/>
    </dgm:pt>
    <dgm:pt modelId="{BC17EE0C-65C5-4748-BF76-61FC68021EF6}" type="pres">
      <dgm:prSet presAssocID="{627E755D-BA91-47AC-9C70-975ED5CA865C}" presName="accent_3" presStyleCnt="0"/>
      <dgm:spPr/>
    </dgm:pt>
    <dgm:pt modelId="{7BF2E176-953F-4AEC-A58F-F8701A82BA65}" type="pres">
      <dgm:prSet presAssocID="{627E755D-BA91-47AC-9C70-975ED5CA865C}" presName="accentRepeatNode" presStyleLbl="solidFgAcc1" presStyleIdx="2" presStyleCnt="3"/>
      <dgm:spPr>
        <a:ln w="28575">
          <a:solidFill>
            <a:schemeClr val="accent1"/>
          </a:solidFill>
        </a:ln>
      </dgm:spPr>
    </dgm:pt>
  </dgm:ptLst>
  <dgm:cxnLst>
    <dgm:cxn modelId="{A1302F07-C21A-4573-9E35-B92CB308F5E6}" type="presOf" srcId="{5E36DC6D-7265-444C-8517-DC85F0A9C8DD}" destId="{A1F900AF-9F05-4AA3-A4B5-81C4AE3EDCC6}" srcOrd="0" destOrd="0" presId="urn:microsoft.com/office/officeart/2008/layout/VerticalCurvedList"/>
    <dgm:cxn modelId="{67C9A818-1166-48CA-A4C2-5BE535A89DD0}" type="presOf" srcId="{61F21598-D04F-46A5-A374-1B0F61C6D6E8}" destId="{14DC023D-6BEA-43FF-92CA-94BA91BA420C}" srcOrd="0" destOrd="0" presId="urn:microsoft.com/office/officeart/2008/layout/VerticalCurvedList"/>
    <dgm:cxn modelId="{6994C12A-1A03-4005-A0C9-D4E54A42BE53}" type="presOf" srcId="{484D6F46-CBB6-4025-8352-957074602846}" destId="{438052B9-EBEE-4201-B910-9D1F4B195CE2}" srcOrd="0" destOrd="0" presId="urn:microsoft.com/office/officeart/2008/layout/VerticalCurvedList"/>
    <dgm:cxn modelId="{BB8FF072-1AAB-4A2F-AAE8-70D57040A861}" srcId="{61F21598-D04F-46A5-A374-1B0F61C6D6E8}" destId="{627E755D-BA91-47AC-9C70-975ED5CA865C}" srcOrd="2" destOrd="0" parTransId="{C50F3CA0-DF24-46A6-94BC-FAC3B2621CF8}" sibTransId="{8CB522D7-B6B8-49D0-BD40-498D41B1566C}"/>
    <dgm:cxn modelId="{B6A2BE94-AEC0-4B08-B99A-85A98A1EA517}" type="presOf" srcId="{8D902639-0FCD-4A9D-85F8-68AE19ECD535}" destId="{C56E76C2-3B61-4158-877D-4C56B4FCE149}" srcOrd="0" destOrd="0" presId="urn:microsoft.com/office/officeart/2008/layout/VerticalCurvedList"/>
    <dgm:cxn modelId="{F58E9799-FBC8-46C9-93E1-F38A20C28EA4}" srcId="{61F21598-D04F-46A5-A374-1B0F61C6D6E8}" destId="{484D6F46-CBB6-4025-8352-957074602846}" srcOrd="0" destOrd="0" parTransId="{22524168-2650-44BF-A7A3-EA90CED5B438}" sibTransId="{8D902639-0FCD-4A9D-85F8-68AE19ECD535}"/>
    <dgm:cxn modelId="{C431D6B9-096B-4817-9C30-E9DA84A631F9}" srcId="{61F21598-D04F-46A5-A374-1B0F61C6D6E8}" destId="{5E36DC6D-7265-444C-8517-DC85F0A9C8DD}" srcOrd="1" destOrd="0" parTransId="{4B36342E-3264-4D4E-A2AD-2C424FBAABA2}" sibTransId="{1D47F358-54D9-404D-A84B-93689BEFC7FB}"/>
    <dgm:cxn modelId="{B563EDF3-A03C-4612-A079-46B477C4A2A5}" type="presOf" srcId="{627E755D-BA91-47AC-9C70-975ED5CA865C}" destId="{4DA257A4-FBE9-4E62-94A4-BD55E3FA60DB}" srcOrd="0" destOrd="0" presId="urn:microsoft.com/office/officeart/2008/layout/VerticalCurvedList"/>
    <dgm:cxn modelId="{037F1989-FFF9-47BE-AD74-EA7DAF0CD0A1}" type="presParOf" srcId="{14DC023D-6BEA-43FF-92CA-94BA91BA420C}" destId="{CA8055DB-5812-49B2-ADAC-B4DE027269A0}" srcOrd="0" destOrd="0" presId="urn:microsoft.com/office/officeart/2008/layout/VerticalCurvedList"/>
    <dgm:cxn modelId="{547B1719-1945-4E60-9D3C-57D90598135D}" type="presParOf" srcId="{CA8055DB-5812-49B2-ADAC-B4DE027269A0}" destId="{58CA50E0-830A-4AA1-97D3-86C2DC2AEC96}" srcOrd="0" destOrd="0" presId="urn:microsoft.com/office/officeart/2008/layout/VerticalCurvedList"/>
    <dgm:cxn modelId="{B8799A24-B765-4185-81CB-16D7620556D2}" type="presParOf" srcId="{58CA50E0-830A-4AA1-97D3-86C2DC2AEC96}" destId="{6A7B0600-0F2B-41DE-900C-5257C21B0D1B}" srcOrd="0" destOrd="0" presId="urn:microsoft.com/office/officeart/2008/layout/VerticalCurvedList"/>
    <dgm:cxn modelId="{567AD2FF-3F03-428A-A5E5-A59304C31CD7}" type="presParOf" srcId="{58CA50E0-830A-4AA1-97D3-86C2DC2AEC96}" destId="{C56E76C2-3B61-4158-877D-4C56B4FCE149}" srcOrd="1" destOrd="0" presId="urn:microsoft.com/office/officeart/2008/layout/VerticalCurvedList"/>
    <dgm:cxn modelId="{30D40E6A-F7C0-4AAA-AE57-C8192BB5702F}" type="presParOf" srcId="{58CA50E0-830A-4AA1-97D3-86C2DC2AEC96}" destId="{D08FD00B-68DE-4896-82BD-24714767535E}" srcOrd="2" destOrd="0" presId="urn:microsoft.com/office/officeart/2008/layout/VerticalCurvedList"/>
    <dgm:cxn modelId="{E57FC348-4D4D-476C-A3DA-D77759502889}" type="presParOf" srcId="{58CA50E0-830A-4AA1-97D3-86C2DC2AEC96}" destId="{84E15CAB-7FAC-4A40-A0CA-E42A72768BB2}" srcOrd="3" destOrd="0" presId="urn:microsoft.com/office/officeart/2008/layout/VerticalCurvedList"/>
    <dgm:cxn modelId="{4BAD7E31-6AE2-464B-A522-A5CF13896BC4}" type="presParOf" srcId="{CA8055DB-5812-49B2-ADAC-B4DE027269A0}" destId="{438052B9-EBEE-4201-B910-9D1F4B195CE2}" srcOrd="1" destOrd="0" presId="urn:microsoft.com/office/officeart/2008/layout/VerticalCurvedList"/>
    <dgm:cxn modelId="{489AAFF1-0231-4ABB-BFFD-0855C40CC0B7}" type="presParOf" srcId="{CA8055DB-5812-49B2-ADAC-B4DE027269A0}" destId="{4A670E73-18F3-406C-8431-2300E5971DD5}" srcOrd="2" destOrd="0" presId="urn:microsoft.com/office/officeart/2008/layout/VerticalCurvedList"/>
    <dgm:cxn modelId="{466F7F74-6CE8-4EB4-8AB4-BE8019267BC1}" type="presParOf" srcId="{4A670E73-18F3-406C-8431-2300E5971DD5}" destId="{4D22CFC8-227A-4610-82A6-0D4BB29C7C24}" srcOrd="0" destOrd="0" presId="urn:microsoft.com/office/officeart/2008/layout/VerticalCurvedList"/>
    <dgm:cxn modelId="{3C043A51-F2AB-4F83-A82D-1216812C05AF}" type="presParOf" srcId="{CA8055DB-5812-49B2-ADAC-B4DE027269A0}" destId="{A1F900AF-9F05-4AA3-A4B5-81C4AE3EDCC6}" srcOrd="3" destOrd="0" presId="urn:microsoft.com/office/officeart/2008/layout/VerticalCurvedList"/>
    <dgm:cxn modelId="{4860D982-D963-4CD3-B52E-A5D93C71F140}" type="presParOf" srcId="{CA8055DB-5812-49B2-ADAC-B4DE027269A0}" destId="{28F64679-69B5-4749-ADE4-D0D6115BBDDA}" srcOrd="4" destOrd="0" presId="urn:microsoft.com/office/officeart/2008/layout/VerticalCurvedList"/>
    <dgm:cxn modelId="{EACF19E8-D76F-4B73-863C-E9138732F718}" type="presParOf" srcId="{28F64679-69B5-4749-ADE4-D0D6115BBDDA}" destId="{72B24986-1F4E-49E4-A605-2477D3FDFA03}" srcOrd="0" destOrd="0" presId="urn:microsoft.com/office/officeart/2008/layout/VerticalCurvedList"/>
    <dgm:cxn modelId="{72F290A4-8119-48D6-BECD-F4ACE7D38630}" type="presParOf" srcId="{CA8055DB-5812-49B2-ADAC-B4DE027269A0}" destId="{4DA257A4-FBE9-4E62-94A4-BD55E3FA60DB}" srcOrd="5" destOrd="0" presId="urn:microsoft.com/office/officeart/2008/layout/VerticalCurvedList"/>
    <dgm:cxn modelId="{0A8727E2-6B59-43AC-B7F6-A35306B330DF}" type="presParOf" srcId="{CA8055DB-5812-49B2-ADAC-B4DE027269A0}" destId="{BC17EE0C-65C5-4748-BF76-61FC68021EF6}" srcOrd="6" destOrd="0" presId="urn:microsoft.com/office/officeart/2008/layout/VerticalCurvedList"/>
    <dgm:cxn modelId="{92B81B80-3397-4C75-9437-2BA0CF0D5FFE}" type="presParOf" srcId="{BC17EE0C-65C5-4748-BF76-61FC68021EF6}" destId="{7BF2E176-953F-4AEC-A58F-F8701A82BA6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F21598-D04F-46A5-A374-1B0F61C6D6E8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484D6F46-CBB6-4025-8352-957074602846}">
      <dgm:prSet phldrT="[Text]"/>
      <dgm:spPr/>
      <dgm:t>
        <a:bodyPr/>
        <a:lstStyle/>
        <a:p>
          <a:r>
            <a:rPr lang="en-US"/>
            <a:t>Attributes of dependability</a:t>
          </a:r>
        </a:p>
      </dgm:t>
    </dgm:pt>
    <dgm:pt modelId="{22524168-2650-44BF-A7A3-EA90CED5B438}" type="parTrans" cxnId="{F58E9799-FBC8-46C9-93E1-F38A20C28EA4}">
      <dgm:prSet/>
      <dgm:spPr/>
      <dgm:t>
        <a:bodyPr/>
        <a:lstStyle/>
        <a:p>
          <a:endParaRPr lang="en-US"/>
        </a:p>
      </dgm:t>
    </dgm:pt>
    <dgm:pt modelId="{8D902639-0FCD-4A9D-85F8-68AE19ECD535}" type="sibTrans" cxnId="{F58E9799-FBC8-46C9-93E1-F38A20C28EA4}">
      <dgm:prSet/>
      <dgm:spPr>
        <a:solidFill>
          <a:schemeClr val="accent4"/>
        </a:solidFill>
        <a:ln>
          <a:noFill/>
        </a:ln>
      </dgm:spPr>
      <dgm:t>
        <a:bodyPr/>
        <a:lstStyle/>
        <a:p>
          <a:endParaRPr lang="en-US"/>
        </a:p>
      </dgm:t>
    </dgm:pt>
    <dgm:pt modelId="{5E36DC6D-7265-444C-8517-DC85F0A9C8DD}">
      <dgm:prSet phldrT="[Text]"/>
      <dgm:spPr/>
      <dgm:t>
        <a:bodyPr/>
        <a:lstStyle/>
        <a:p>
          <a:r>
            <a:rPr lang="en-US"/>
            <a:t>Combinatorial models</a:t>
          </a:r>
        </a:p>
      </dgm:t>
    </dgm:pt>
    <dgm:pt modelId="{4B36342E-3264-4D4E-A2AD-2C424FBAABA2}" type="parTrans" cxnId="{C431D6B9-096B-4817-9C30-E9DA84A631F9}">
      <dgm:prSet/>
      <dgm:spPr/>
      <dgm:t>
        <a:bodyPr/>
        <a:lstStyle/>
        <a:p>
          <a:endParaRPr lang="en-US"/>
        </a:p>
      </dgm:t>
    </dgm:pt>
    <dgm:pt modelId="{1D47F358-54D9-404D-A84B-93689BEFC7FB}" type="sibTrans" cxnId="{C431D6B9-096B-4817-9C30-E9DA84A631F9}">
      <dgm:prSet/>
      <dgm:spPr/>
      <dgm:t>
        <a:bodyPr/>
        <a:lstStyle/>
        <a:p>
          <a:endParaRPr lang="en-US"/>
        </a:p>
      </dgm:t>
    </dgm:pt>
    <dgm:pt modelId="{627E755D-BA91-47AC-9C70-975ED5CA865C}">
      <dgm:prSet phldrT="[Text]"/>
      <dgm:spPr/>
      <dgm:t>
        <a:bodyPr/>
        <a:lstStyle/>
        <a:p>
          <a:r>
            <a:rPr lang="en-US"/>
            <a:t>Stochastic models</a:t>
          </a:r>
        </a:p>
      </dgm:t>
    </dgm:pt>
    <dgm:pt modelId="{C50F3CA0-DF24-46A6-94BC-FAC3B2621CF8}" type="parTrans" cxnId="{BB8FF072-1AAB-4A2F-AAE8-70D57040A861}">
      <dgm:prSet/>
      <dgm:spPr/>
      <dgm:t>
        <a:bodyPr/>
        <a:lstStyle/>
        <a:p>
          <a:endParaRPr lang="en-US"/>
        </a:p>
      </dgm:t>
    </dgm:pt>
    <dgm:pt modelId="{8CB522D7-B6B8-49D0-BD40-498D41B1566C}" type="sibTrans" cxnId="{BB8FF072-1AAB-4A2F-AAE8-70D57040A861}">
      <dgm:prSet/>
      <dgm:spPr/>
      <dgm:t>
        <a:bodyPr/>
        <a:lstStyle/>
        <a:p>
          <a:endParaRPr lang="en-US"/>
        </a:p>
      </dgm:t>
    </dgm:pt>
    <dgm:pt modelId="{14DC023D-6BEA-43FF-92CA-94BA91BA420C}" type="pres">
      <dgm:prSet presAssocID="{61F21598-D04F-46A5-A374-1B0F61C6D6E8}" presName="Name0" presStyleCnt="0">
        <dgm:presLayoutVars>
          <dgm:chMax val="7"/>
          <dgm:chPref val="7"/>
          <dgm:dir/>
        </dgm:presLayoutVars>
      </dgm:prSet>
      <dgm:spPr/>
    </dgm:pt>
    <dgm:pt modelId="{CA8055DB-5812-49B2-ADAC-B4DE027269A0}" type="pres">
      <dgm:prSet presAssocID="{61F21598-D04F-46A5-A374-1B0F61C6D6E8}" presName="Name1" presStyleCnt="0"/>
      <dgm:spPr/>
    </dgm:pt>
    <dgm:pt modelId="{58CA50E0-830A-4AA1-97D3-86C2DC2AEC96}" type="pres">
      <dgm:prSet presAssocID="{61F21598-D04F-46A5-A374-1B0F61C6D6E8}" presName="cycle" presStyleCnt="0"/>
      <dgm:spPr/>
    </dgm:pt>
    <dgm:pt modelId="{6A7B0600-0F2B-41DE-900C-5257C21B0D1B}" type="pres">
      <dgm:prSet presAssocID="{61F21598-D04F-46A5-A374-1B0F61C6D6E8}" presName="srcNode" presStyleLbl="node1" presStyleIdx="0" presStyleCnt="3"/>
      <dgm:spPr/>
    </dgm:pt>
    <dgm:pt modelId="{C56E76C2-3B61-4158-877D-4C56B4FCE149}" type="pres">
      <dgm:prSet presAssocID="{61F21598-D04F-46A5-A374-1B0F61C6D6E8}" presName="conn" presStyleLbl="parChTrans1D2" presStyleIdx="0" presStyleCnt="1"/>
      <dgm:spPr/>
    </dgm:pt>
    <dgm:pt modelId="{D08FD00B-68DE-4896-82BD-24714767535E}" type="pres">
      <dgm:prSet presAssocID="{61F21598-D04F-46A5-A374-1B0F61C6D6E8}" presName="extraNode" presStyleLbl="node1" presStyleIdx="0" presStyleCnt="3"/>
      <dgm:spPr/>
    </dgm:pt>
    <dgm:pt modelId="{84E15CAB-7FAC-4A40-A0CA-E42A72768BB2}" type="pres">
      <dgm:prSet presAssocID="{61F21598-D04F-46A5-A374-1B0F61C6D6E8}" presName="dstNode" presStyleLbl="node1" presStyleIdx="0" presStyleCnt="3"/>
      <dgm:spPr/>
    </dgm:pt>
    <dgm:pt modelId="{438052B9-EBEE-4201-B910-9D1F4B195CE2}" type="pres">
      <dgm:prSet presAssocID="{484D6F46-CBB6-4025-8352-957074602846}" presName="text_1" presStyleLbl="node1" presStyleIdx="0" presStyleCnt="3">
        <dgm:presLayoutVars>
          <dgm:bulletEnabled val="1"/>
        </dgm:presLayoutVars>
      </dgm:prSet>
      <dgm:spPr/>
    </dgm:pt>
    <dgm:pt modelId="{4A670E73-18F3-406C-8431-2300E5971DD5}" type="pres">
      <dgm:prSet presAssocID="{484D6F46-CBB6-4025-8352-957074602846}" presName="accent_1" presStyleCnt="0"/>
      <dgm:spPr/>
    </dgm:pt>
    <dgm:pt modelId="{4D22CFC8-227A-4610-82A6-0D4BB29C7C24}" type="pres">
      <dgm:prSet presAssocID="{484D6F46-CBB6-4025-8352-957074602846}" presName="accentRepeatNode" presStyleLbl="solidFgAcc1" presStyleIdx="0" presStyleCnt="3"/>
      <dgm:spPr/>
    </dgm:pt>
    <dgm:pt modelId="{A1F900AF-9F05-4AA3-A4B5-81C4AE3EDCC6}" type="pres">
      <dgm:prSet presAssocID="{5E36DC6D-7265-444C-8517-DC85F0A9C8DD}" presName="text_2" presStyleLbl="node1" presStyleIdx="1" presStyleCnt="3">
        <dgm:presLayoutVars>
          <dgm:bulletEnabled val="1"/>
        </dgm:presLayoutVars>
      </dgm:prSet>
      <dgm:spPr/>
    </dgm:pt>
    <dgm:pt modelId="{28F64679-69B5-4749-ADE4-D0D6115BBDDA}" type="pres">
      <dgm:prSet presAssocID="{5E36DC6D-7265-444C-8517-DC85F0A9C8DD}" presName="accent_2" presStyleCnt="0"/>
      <dgm:spPr/>
    </dgm:pt>
    <dgm:pt modelId="{72B24986-1F4E-49E4-A605-2477D3FDFA03}" type="pres">
      <dgm:prSet presAssocID="{5E36DC6D-7265-444C-8517-DC85F0A9C8DD}" presName="accentRepeatNode" presStyleLbl="solidFgAcc1" presStyleIdx="1" presStyleCnt="3"/>
      <dgm:spPr/>
    </dgm:pt>
    <dgm:pt modelId="{4DA257A4-FBE9-4E62-94A4-BD55E3FA60DB}" type="pres">
      <dgm:prSet presAssocID="{627E755D-BA91-47AC-9C70-975ED5CA865C}" presName="text_3" presStyleLbl="node1" presStyleIdx="2" presStyleCnt="3">
        <dgm:presLayoutVars>
          <dgm:bulletEnabled val="1"/>
        </dgm:presLayoutVars>
      </dgm:prSet>
      <dgm:spPr/>
    </dgm:pt>
    <dgm:pt modelId="{BC17EE0C-65C5-4748-BF76-61FC68021EF6}" type="pres">
      <dgm:prSet presAssocID="{627E755D-BA91-47AC-9C70-975ED5CA865C}" presName="accent_3" presStyleCnt="0"/>
      <dgm:spPr/>
    </dgm:pt>
    <dgm:pt modelId="{7BF2E176-953F-4AEC-A58F-F8701A82BA65}" type="pres">
      <dgm:prSet presAssocID="{627E755D-BA91-47AC-9C70-975ED5CA865C}" presName="accentRepeatNode" presStyleLbl="solidFgAcc1" presStyleIdx="2" presStyleCnt="3"/>
      <dgm:spPr/>
    </dgm:pt>
  </dgm:ptLst>
  <dgm:cxnLst>
    <dgm:cxn modelId="{A1302F07-C21A-4573-9E35-B92CB308F5E6}" type="presOf" srcId="{5E36DC6D-7265-444C-8517-DC85F0A9C8DD}" destId="{A1F900AF-9F05-4AA3-A4B5-81C4AE3EDCC6}" srcOrd="0" destOrd="0" presId="urn:microsoft.com/office/officeart/2008/layout/VerticalCurvedList"/>
    <dgm:cxn modelId="{67C9A818-1166-48CA-A4C2-5BE535A89DD0}" type="presOf" srcId="{61F21598-D04F-46A5-A374-1B0F61C6D6E8}" destId="{14DC023D-6BEA-43FF-92CA-94BA91BA420C}" srcOrd="0" destOrd="0" presId="urn:microsoft.com/office/officeart/2008/layout/VerticalCurvedList"/>
    <dgm:cxn modelId="{6994C12A-1A03-4005-A0C9-D4E54A42BE53}" type="presOf" srcId="{484D6F46-CBB6-4025-8352-957074602846}" destId="{438052B9-EBEE-4201-B910-9D1F4B195CE2}" srcOrd="0" destOrd="0" presId="urn:microsoft.com/office/officeart/2008/layout/VerticalCurvedList"/>
    <dgm:cxn modelId="{BB8FF072-1AAB-4A2F-AAE8-70D57040A861}" srcId="{61F21598-D04F-46A5-A374-1B0F61C6D6E8}" destId="{627E755D-BA91-47AC-9C70-975ED5CA865C}" srcOrd="2" destOrd="0" parTransId="{C50F3CA0-DF24-46A6-94BC-FAC3B2621CF8}" sibTransId="{8CB522D7-B6B8-49D0-BD40-498D41B1566C}"/>
    <dgm:cxn modelId="{B6A2BE94-AEC0-4B08-B99A-85A98A1EA517}" type="presOf" srcId="{8D902639-0FCD-4A9D-85F8-68AE19ECD535}" destId="{C56E76C2-3B61-4158-877D-4C56B4FCE149}" srcOrd="0" destOrd="0" presId="urn:microsoft.com/office/officeart/2008/layout/VerticalCurvedList"/>
    <dgm:cxn modelId="{F58E9799-FBC8-46C9-93E1-F38A20C28EA4}" srcId="{61F21598-D04F-46A5-A374-1B0F61C6D6E8}" destId="{484D6F46-CBB6-4025-8352-957074602846}" srcOrd="0" destOrd="0" parTransId="{22524168-2650-44BF-A7A3-EA90CED5B438}" sibTransId="{8D902639-0FCD-4A9D-85F8-68AE19ECD535}"/>
    <dgm:cxn modelId="{C431D6B9-096B-4817-9C30-E9DA84A631F9}" srcId="{61F21598-D04F-46A5-A374-1B0F61C6D6E8}" destId="{5E36DC6D-7265-444C-8517-DC85F0A9C8DD}" srcOrd="1" destOrd="0" parTransId="{4B36342E-3264-4D4E-A2AD-2C424FBAABA2}" sibTransId="{1D47F358-54D9-404D-A84B-93689BEFC7FB}"/>
    <dgm:cxn modelId="{B563EDF3-A03C-4612-A079-46B477C4A2A5}" type="presOf" srcId="{627E755D-BA91-47AC-9C70-975ED5CA865C}" destId="{4DA257A4-FBE9-4E62-94A4-BD55E3FA60DB}" srcOrd="0" destOrd="0" presId="urn:microsoft.com/office/officeart/2008/layout/VerticalCurvedList"/>
    <dgm:cxn modelId="{037F1989-FFF9-47BE-AD74-EA7DAF0CD0A1}" type="presParOf" srcId="{14DC023D-6BEA-43FF-92CA-94BA91BA420C}" destId="{CA8055DB-5812-49B2-ADAC-B4DE027269A0}" srcOrd="0" destOrd="0" presId="urn:microsoft.com/office/officeart/2008/layout/VerticalCurvedList"/>
    <dgm:cxn modelId="{547B1719-1945-4E60-9D3C-57D90598135D}" type="presParOf" srcId="{CA8055DB-5812-49B2-ADAC-B4DE027269A0}" destId="{58CA50E0-830A-4AA1-97D3-86C2DC2AEC96}" srcOrd="0" destOrd="0" presId="urn:microsoft.com/office/officeart/2008/layout/VerticalCurvedList"/>
    <dgm:cxn modelId="{B8799A24-B765-4185-81CB-16D7620556D2}" type="presParOf" srcId="{58CA50E0-830A-4AA1-97D3-86C2DC2AEC96}" destId="{6A7B0600-0F2B-41DE-900C-5257C21B0D1B}" srcOrd="0" destOrd="0" presId="urn:microsoft.com/office/officeart/2008/layout/VerticalCurvedList"/>
    <dgm:cxn modelId="{567AD2FF-3F03-428A-A5E5-A59304C31CD7}" type="presParOf" srcId="{58CA50E0-830A-4AA1-97D3-86C2DC2AEC96}" destId="{C56E76C2-3B61-4158-877D-4C56B4FCE149}" srcOrd="1" destOrd="0" presId="urn:microsoft.com/office/officeart/2008/layout/VerticalCurvedList"/>
    <dgm:cxn modelId="{30D40E6A-F7C0-4AAA-AE57-C8192BB5702F}" type="presParOf" srcId="{58CA50E0-830A-4AA1-97D3-86C2DC2AEC96}" destId="{D08FD00B-68DE-4896-82BD-24714767535E}" srcOrd="2" destOrd="0" presId="urn:microsoft.com/office/officeart/2008/layout/VerticalCurvedList"/>
    <dgm:cxn modelId="{E57FC348-4D4D-476C-A3DA-D77759502889}" type="presParOf" srcId="{58CA50E0-830A-4AA1-97D3-86C2DC2AEC96}" destId="{84E15CAB-7FAC-4A40-A0CA-E42A72768BB2}" srcOrd="3" destOrd="0" presId="urn:microsoft.com/office/officeart/2008/layout/VerticalCurvedList"/>
    <dgm:cxn modelId="{4BAD7E31-6AE2-464B-A522-A5CF13896BC4}" type="presParOf" srcId="{CA8055DB-5812-49B2-ADAC-B4DE027269A0}" destId="{438052B9-EBEE-4201-B910-9D1F4B195CE2}" srcOrd="1" destOrd="0" presId="urn:microsoft.com/office/officeart/2008/layout/VerticalCurvedList"/>
    <dgm:cxn modelId="{489AAFF1-0231-4ABB-BFFD-0855C40CC0B7}" type="presParOf" srcId="{CA8055DB-5812-49B2-ADAC-B4DE027269A0}" destId="{4A670E73-18F3-406C-8431-2300E5971DD5}" srcOrd="2" destOrd="0" presId="urn:microsoft.com/office/officeart/2008/layout/VerticalCurvedList"/>
    <dgm:cxn modelId="{466F7F74-6CE8-4EB4-8AB4-BE8019267BC1}" type="presParOf" srcId="{4A670E73-18F3-406C-8431-2300E5971DD5}" destId="{4D22CFC8-227A-4610-82A6-0D4BB29C7C24}" srcOrd="0" destOrd="0" presId="urn:microsoft.com/office/officeart/2008/layout/VerticalCurvedList"/>
    <dgm:cxn modelId="{3C043A51-F2AB-4F83-A82D-1216812C05AF}" type="presParOf" srcId="{CA8055DB-5812-49B2-ADAC-B4DE027269A0}" destId="{A1F900AF-9F05-4AA3-A4B5-81C4AE3EDCC6}" srcOrd="3" destOrd="0" presId="urn:microsoft.com/office/officeart/2008/layout/VerticalCurvedList"/>
    <dgm:cxn modelId="{4860D982-D963-4CD3-B52E-A5D93C71F140}" type="presParOf" srcId="{CA8055DB-5812-49B2-ADAC-B4DE027269A0}" destId="{28F64679-69B5-4749-ADE4-D0D6115BBDDA}" srcOrd="4" destOrd="0" presId="urn:microsoft.com/office/officeart/2008/layout/VerticalCurvedList"/>
    <dgm:cxn modelId="{EACF19E8-D76F-4B73-863C-E9138732F718}" type="presParOf" srcId="{28F64679-69B5-4749-ADE4-D0D6115BBDDA}" destId="{72B24986-1F4E-49E4-A605-2477D3FDFA03}" srcOrd="0" destOrd="0" presId="urn:microsoft.com/office/officeart/2008/layout/VerticalCurvedList"/>
    <dgm:cxn modelId="{72F290A4-8119-48D6-BECD-F4ACE7D38630}" type="presParOf" srcId="{CA8055DB-5812-49B2-ADAC-B4DE027269A0}" destId="{4DA257A4-FBE9-4E62-94A4-BD55E3FA60DB}" srcOrd="5" destOrd="0" presId="urn:microsoft.com/office/officeart/2008/layout/VerticalCurvedList"/>
    <dgm:cxn modelId="{0A8727E2-6B59-43AC-B7F6-A35306B330DF}" type="presParOf" srcId="{CA8055DB-5812-49B2-ADAC-B4DE027269A0}" destId="{BC17EE0C-65C5-4748-BF76-61FC68021EF6}" srcOrd="6" destOrd="0" presId="urn:microsoft.com/office/officeart/2008/layout/VerticalCurvedList"/>
    <dgm:cxn modelId="{92B81B80-3397-4C75-9437-2BA0CF0D5FFE}" type="presParOf" srcId="{BC17EE0C-65C5-4748-BF76-61FC68021EF6}" destId="{7BF2E176-953F-4AEC-A58F-F8701A82BA6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6E76C2-3B61-4158-877D-4C56B4FCE149}">
      <dsp:nvSpPr>
        <dsp:cNvPr id="0" name=""/>
        <dsp:cNvSpPr/>
      </dsp:nvSpPr>
      <dsp:spPr>
        <a:xfrm>
          <a:off x="-5710418" y="-874245"/>
          <a:ext cx="6799915" cy="6799915"/>
        </a:xfrm>
        <a:prstGeom prst="blockArc">
          <a:avLst>
            <a:gd name="adj1" fmla="val 18900000"/>
            <a:gd name="adj2" fmla="val 2700000"/>
            <a:gd name="adj3" fmla="val 318"/>
          </a:avLst>
        </a:prstGeom>
        <a:solidFill>
          <a:schemeClr val="accen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8052B9-EBEE-4201-B910-9D1F4B195CE2}">
      <dsp:nvSpPr>
        <dsp:cNvPr id="0" name=""/>
        <dsp:cNvSpPr/>
      </dsp:nvSpPr>
      <dsp:spPr>
        <a:xfrm>
          <a:off x="701137" y="505142"/>
          <a:ext cx="10251165" cy="1010285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1914" tIns="121920" rIns="121920" bIns="12192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Attributes of dependability</a:t>
          </a:r>
        </a:p>
      </dsp:txBody>
      <dsp:txXfrm>
        <a:off x="701137" y="505142"/>
        <a:ext cx="10251165" cy="1010285"/>
      </dsp:txXfrm>
    </dsp:sp>
    <dsp:sp modelId="{4D22CFC8-227A-4610-82A6-0D4BB29C7C24}">
      <dsp:nvSpPr>
        <dsp:cNvPr id="0" name=""/>
        <dsp:cNvSpPr/>
      </dsp:nvSpPr>
      <dsp:spPr>
        <a:xfrm>
          <a:off x="69709" y="378856"/>
          <a:ext cx="1262856" cy="126285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F900AF-9F05-4AA3-A4B5-81C4AE3EDCC6}">
      <dsp:nvSpPr>
        <dsp:cNvPr id="0" name=""/>
        <dsp:cNvSpPr/>
      </dsp:nvSpPr>
      <dsp:spPr>
        <a:xfrm>
          <a:off x="1068376" y="2020570"/>
          <a:ext cx="9883926" cy="10102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1914" tIns="121920" rIns="121920" bIns="12192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Combinatorial models</a:t>
          </a:r>
        </a:p>
      </dsp:txBody>
      <dsp:txXfrm>
        <a:off x="1068376" y="2020570"/>
        <a:ext cx="9883926" cy="1010285"/>
      </dsp:txXfrm>
    </dsp:sp>
    <dsp:sp modelId="{72B24986-1F4E-49E4-A605-2477D3FDFA03}">
      <dsp:nvSpPr>
        <dsp:cNvPr id="0" name=""/>
        <dsp:cNvSpPr/>
      </dsp:nvSpPr>
      <dsp:spPr>
        <a:xfrm>
          <a:off x="436948" y="1894284"/>
          <a:ext cx="1262856" cy="126285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A257A4-FBE9-4E62-94A4-BD55E3FA60DB}">
      <dsp:nvSpPr>
        <dsp:cNvPr id="0" name=""/>
        <dsp:cNvSpPr/>
      </dsp:nvSpPr>
      <dsp:spPr>
        <a:xfrm>
          <a:off x="701137" y="3535997"/>
          <a:ext cx="10251165" cy="10102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1914" tIns="121920" rIns="121920" bIns="12192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Stochastic models</a:t>
          </a:r>
        </a:p>
      </dsp:txBody>
      <dsp:txXfrm>
        <a:off x="701137" y="3535997"/>
        <a:ext cx="10251165" cy="1010285"/>
      </dsp:txXfrm>
    </dsp:sp>
    <dsp:sp modelId="{7BF2E176-953F-4AEC-A58F-F8701A82BA65}">
      <dsp:nvSpPr>
        <dsp:cNvPr id="0" name=""/>
        <dsp:cNvSpPr/>
      </dsp:nvSpPr>
      <dsp:spPr>
        <a:xfrm>
          <a:off x="69709" y="3409711"/>
          <a:ext cx="1262856" cy="126285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6E76C2-3B61-4158-877D-4C56B4FCE149}">
      <dsp:nvSpPr>
        <dsp:cNvPr id="0" name=""/>
        <dsp:cNvSpPr/>
      </dsp:nvSpPr>
      <dsp:spPr>
        <a:xfrm>
          <a:off x="-5710418" y="-874245"/>
          <a:ext cx="6799915" cy="6799915"/>
        </a:xfrm>
        <a:prstGeom prst="blockArc">
          <a:avLst>
            <a:gd name="adj1" fmla="val 18900000"/>
            <a:gd name="adj2" fmla="val 2700000"/>
            <a:gd name="adj3" fmla="val 318"/>
          </a:avLst>
        </a:prstGeom>
        <a:solidFill>
          <a:schemeClr val="accent4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8052B9-EBEE-4201-B910-9D1F4B195CE2}">
      <dsp:nvSpPr>
        <dsp:cNvPr id="0" name=""/>
        <dsp:cNvSpPr/>
      </dsp:nvSpPr>
      <dsp:spPr>
        <a:xfrm>
          <a:off x="701137" y="505142"/>
          <a:ext cx="10251165" cy="101028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1914" tIns="121920" rIns="121920" bIns="12192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Attributes of dependability</a:t>
          </a:r>
        </a:p>
      </dsp:txBody>
      <dsp:txXfrm>
        <a:off x="701137" y="505142"/>
        <a:ext cx="10251165" cy="1010285"/>
      </dsp:txXfrm>
    </dsp:sp>
    <dsp:sp modelId="{4D22CFC8-227A-4610-82A6-0D4BB29C7C24}">
      <dsp:nvSpPr>
        <dsp:cNvPr id="0" name=""/>
        <dsp:cNvSpPr/>
      </dsp:nvSpPr>
      <dsp:spPr>
        <a:xfrm>
          <a:off x="69709" y="378856"/>
          <a:ext cx="1262856" cy="126285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F900AF-9F05-4AA3-A4B5-81C4AE3EDCC6}">
      <dsp:nvSpPr>
        <dsp:cNvPr id="0" name=""/>
        <dsp:cNvSpPr/>
      </dsp:nvSpPr>
      <dsp:spPr>
        <a:xfrm>
          <a:off x="1068376" y="2020570"/>
          <a:ext cx="9883926" cy="1010285"/>
        </a:xfrm>
        <a:prstGeom prst="rect">
          <a:avLst/>
        </a:prstGeom>
        <a:solidFill>
          <a:schemeClr val="accent3">
            <a:hueOff val="-8645456"/>
            <a:satOff val="32607"/>
            <a:lumOff val="1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1914" tIns="121920" rIns="121920" bIns="12192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Combinatorial models</a:t>
          </a:r>
        </a:p>
      </dsp:txBody>
      <dsp:txXfrm>
        <a:off x="1068376" y="2020570"/>
        <a:ext cx="9883926" cy="1010285"/>
      </dsp:txXfrm>
    </dsp:sp>
    <dsp:sp modelId="{72B24986-1F4E-49E4-A605-2477D3FDFA03}">
      <dsp:nvSpPr>
        <dsp:cNvPr id="0" name=""/>
        <dsp:cNvSpPr/>
      </dsp:nvSpPr>
      <dsp:spPr>
        <a:xfrm>
          <a:off x="436948" y="1894284"/>
          <a:ext cx="1262856" cy="126285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-8645456"/>
              <a:satOff val="32607"/>
              <a:lumOff val="1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A257A4-FBE9-4E62-94A4-BD55E3FA60DB}">
      <dsp:nvSpPr>
        <dsp:cNvPr id="0" name=""/>
        <dsp:cNvSpPr/>
      </dsp:nvSpPr>
      <dsp:spPr>
        <a:xfrm>
          <a:off x="701137" y="3535997"/>
          <a:ext cx="10251165" cy="1010285"/>
        </a:xfrm>
        <a:prstGeom prst="rect">
          <a:avLst/>
        </a:prstGeom>
        <a:solidFill>
          <a:schemeClr val="accent3">
            <a:hueOff val="-17290911"/>
            <a:satOff val="65214"/>
            <a:lumOff val="3176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1914" tIns="121920" rIns="121920" bIns="12192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Stochastic models</a:t>
          </a:r>
        </a:p>
      </dsp:txBody>
      <dsp:txXfrm>
        <a:off x="701137" y="3535997"/>
        <a:ext cx="10251165" cy="1010285"/>
      </dsp:txXfrm>
    </dsp:sp>
    <dsp:sp modelId="{7BF2E176-953F-4AEC-A58F-F8701A82BA65}">
      <dsp:nvSpPr>
        <dsp:cNvPr id="0" name=""/>
        <dsp:cNvSpPr/>
      </dsp:nvSpPr>
      <dsp:spPr>
        <a:xfrm>
          <a:off x="69709" y="3409711"/>
          <a:ext cx="1262856" cy="126285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-17290911"/>
              <a:satOff val="65214"/>
              <a:lumOff val="317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B83783-5DCD-4AF3-8240-3A025A9A52FD}" type="datetimeFigureOut">
              <a:rPr lang="en-US" smtClean="0"/>
              <a:t>2026-06-02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5A45F1-7FE6-4F4B-AE1D-BF73A7FF3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03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86C690-4F62-4AFC-8745-06DC9BF07935}" type="slidenum">
              <a:rPr lang="hu-HU" smtClean="0"/>
              <a:pPr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41589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oter Placeholder 3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Critical Systems Research Group</a:t>
            </a: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A28B9B-0C36-4B0C-9E4A-C3A158CBB1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7" name="Content Placeholder 36"/>
          <p:cNvSpPr>
            <a:spLocks noGrp="1"/>
          </p:cNvSpPr>
          <p:nvPr>
            <p:ph sz="quarter" idx="12"/>
          </p:nvPr>
        </p:nvSpPr>
        <p:spPr>
          <a:xfrm>
            <a:off x="574978" y="1201994"/>
            <a:ext cx="11021961" cy="5051321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 lang="en-US" smtClean="0"/>
            </a:lvl1pPr>
            <a:lvl2pPr marL="685800" indent="-228600">
              <a:buFont typeface="Open Sans" panose="020B0606030504020204" pitchFamily="34" charset="0"/>
              <a:buChar char="–"/>
              <a:defRPr lang="en-US" smtClean="0"/>
            </a:lvl2pPr>
            <a:lvl3pPr marL="1143000" indent="-228600">
              <a:buFont typeface="Open Sans" panose="020B0606030504020204" pitchFamily="34" charset="0"/>
              <a:buChar char="–"/>
              <a:defRPr lang="en-US" smtClean="0"/>
            </a:lvl3pPr>
            <a:lvl4pPr marL="1600200" indent="-228600">
              <a:buFont typeface="Open Sans" panose="020B0606030504020204" pitchFamily="34" charset="0"/>
              <a:buChar char="–"/>
              <a:defRPr lang="en-US" smtClean="0"/>
            </a:lvl4pPr>
            <a:lvl5pPr marL="2057400" indent="-228600">
              <a:buFont typeface="Open Sans" panose="020B0606030504020204" pitchFamily="34" charset="0"/>
              <a:buChar char="–"/>
              <a:defRPr lang="en-US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252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979" y="2083665"/>
            <a:ext cx="5156748" cy="1570703"/>
          </a:xfrm>
        </p:spPr>
        <p:txBody>
          <a:bodyPr anchor="b"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4978" y="3838724"/>
            <a:ext cx="4733002" cy="907026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Critical Systems Research Group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A28B9B-0C36-4B0C-9E4A-C3A158CBB1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330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4978" y="1307001"/>
            <a:ext cx="5444822" cy="4869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07001"/>
            <a:ext cx="5424740" cy="4869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AFBF37B-E749-BC33-7B70-BDF44B2AB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14359" y="6448478"/>
            <a:ext cx="2743200" cy="3834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9BA28B9B-0C36-4B0C-9E4A-C3A158CBB1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22">
            <a:extLst>
              <a:ext uri="{FF2B5EF4-FFF2-40B4-BE49-F238E27FC236}">
                <a16:creationId xmlns:a16="http://schemas.microsoft.com/office/drawing/2014/main" id="{8BCA6198-1193-A361-A7AA-AF1CC32161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6448478"/>
            <a:ext cx="4114800" cy="3834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Critical Systems Research Group</a:t>
            </a:r>
          </a:p>
        </p:txBody>
      </p:sp>
    </p:spTree>
    <p:extLst>
      <p:ext uri="{BB962C8B-B14F-4D97-AF65-F5344CB8AC3E}">
        <p14:creationId xmlns:p14="http://schemas.microsoft.com/office/powerpoint/2010/main" val="2513483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AC6970E-83A6-91D9-96F5-B9E43917C2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14359" y="6448478"/>
            <a:ext cx="2743200" cy="3834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9BA28B9B-0C36-4B0C-9E4A-C3A158CBB1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22">
            <a:extLst>
              <a:ext uri="{FF2B5EF4-FFF2-40B4-BE49-F238E27FC236}">
                <a16:creationId xmlns:a16="http://schemas.microsoft.com/office/drawing/2014/main" id="{12374BD1-E94B-3107-4A11-9B8137D453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6448478"/>
            <a:ext cx="4114800" cy="3834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Critical Systems Research Group</a:t>
            </a:r>
          </a:p>
        </p:txBody>
      </p:sp>
    </p:spTree>
    <p:extLst>
      <p:ext uri="{BB962C8B-B14F-4D97-AF65-F5344CB8AC3E}">
        <p14:creationId xmlns:p14="http://schemas.microsoft.com/office/powerpoint/2010/main" val="1549585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34610"/>
            <a:ext cx="4114800" cy="42339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Critical Systems Research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28B9B-0C36-4B0C-9E4A-C3A158CB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18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_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1674" y="1149532"/>
            <a:ext cx="10168652" cy="1441268"/>
          </a:xfrm>
        </p:spPr>
        <p:txBody>
          <a:bodyPr anchor="ctr">
            <a:noAutofit/>
          </a:bodyPr>
          <a:lstStyle>
            <a:lvl1pPr algn="l">
              <a:defRPr sz="540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347" y="2876730"/>
            <a:ext cx="7195359" cy="1655762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>
          <a:xfrm>
            <a:off x="6909619" y="179947"/>
            <a:ext cx="4981650" cy="383463"/>
          </a:xfrm>
        </p:spPr>
        <p:txBody>
          <a:bodyPr/>
          <a:lstStyle>
            <a:lvl1pPr algn="r">
              <a:defRPr sz="1800"/>
            </a:lvl1pPr>
          </a:lstStyle>
          <a:p>
            <a:r>
              <a:rPr lang="en-US"/>
              <a:t>Critical Systems Research Group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992928-36B1-F1C4-5B57-D60E15E648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99" y="5648157"/>
            <a:ext cx="10164327" cy="88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308072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H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1674" y="1149532"/>
            <a:ext cx="10168652" cy="1441268"/>
          </a:xfrm>
        </p:spPr>
        <p:txBody>
          <a:bodyPr anchor="ctr">
            <a:noAutofit/>
          </a:bodyPr>
          <a:lstStyle>
            <a:lvl1pPr algn="l">
              <a:defRPr sz="540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347" y="2867765"/>
            <a:ext cx="7195359" cy="1655762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>
          <a:xfrm>
            <a:off x="6909619" y="179947"/>
            <a:ext cx="4981650" cy="383463"/>
          </a:xfrm>
        </p:spPr>
        <p:txBody>
          <a:bodyPr/>
          <a:lstStyle>
            <a:lvl1pPr algn="r">
              <a:defRPr sz="1800"/>
            </a:lvl1pPr>
          </a:lstStyle>
          <a:p>
            <a:r>
              <a:rPr lang="en-US"/>
              <a:t>Critical Systems Research Group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E32719-01D3-76CD-B679-89F3500C4F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80" y="5648158"/>
            <a:ext cx="10479240" cy="88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188560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Sho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1674" y="1149532"/>
            <a:ext cx="10168652" cy="1441268"/>
          </a:xfrm>
        </p:spPr>
        <p:txBody>
          <a:bodyPr anchor="ctr">
            <a:noAutofit/>
          </a:bodyPr>
          <a:lstStyle>
            <a:lvl1pPr algn="l">
              <a:defRPr sz="540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347" y="2876730"/>
            <a:ext cx="7195359" cy="1655762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>
          <a:xfrm>
            <a:off x="6909619" y="179947"/>
            <a:ext cx="4981650" cy="383463"/>
          </a:xfrm>
        </p:spPr>
        <p:txBody>
          <a:bodyPr/>
          <a:lstStyle>
            <a:lvl1pPr algn="r">
              <a:defRPr sz="1800"/>
            </a:lvl1pPr>
          </a:lstStyle>
          <a:p>
            <a:r>
              <a:rPr lang="en-US"/>
              <a:t>Critical Systems Research Group</a:t>
            </a:r>
          </a:p>
        </p:txBody>
      </p:sp>
      <p:pic>
        <p:nvPicPr>
          <p:cNvPr id="8" name="Picture 7" descr="A logo with lightning bolt in a circle&#10;&#10;AI-generated content may be incorrect.">
            <a:extLst>
              <a:ext uri="{FF2B5EF4-FFF2-40B4-BE49-F238E27FC236}">
                <a16:creationId xmlns:a16="http://schemas.microsoft.com/office/drawing/2014/main" id="{3CF75B88-2727-3269-8561-B7B6E34146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309"/>
          <a:stretch>
            <a:fillRect/>
          </a:stretch>
        </p:blipFill>
        <p:spPr>
          <a:xfrm>
            <a:off x="-74974" y="5270988"/>
            <a:ext cx="2185128" cy="15600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A2B6877-3211-C3B4-BD08-1BC6EB0C4AE2}"/>
              </a:ext>
            </a:extLst>
          </p:cNvPr>
          <p:cNvCxnSpPr>
            <a:cxnSpLocks/>
          </p:cNvCxnSpPr>
          <p:nvPr userDrawn="1"/>
        </p:nvCxnSpPr>
        <p:spPr>
          <a:xfrm>
            <a:off x="2159860" y="5833220"/>
            <a:ext cx="0" cy="435537"/>
          </a:xfrm>
          <a:prstGeom prst="line">
            <a:avLst/>
          </a:prstGeom>
          <a:ln w="9525">
            <a:solidFill>
              <a:srgbClr val="101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red lines on a black background&#10;&#10;AI-generated content may be incorrect.">
            <a:extLst>
              <a:ext uri="{FF2B5EF4-FFF2-40B4-BE49-F238E27FC236}">
                <a16:creationId xmlns:a16="http://schemas.microsoft.com/office/drawing/2014/main" id="{13BC9B67-4BAB-0CC6-0402-E5DD12C69B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362" y="5708988"/>
            <a:ext cx="837551" cy="684000"/>
          </a:xfrm>
          <a:prstGeom prst="rect">
            <a:avLst/>
          </a:prstGeom>
        </p:spPr>
      </p:pic>
      <p:pic>
        <p:nvPicPr>
          <p:cNvPr id="9" name="Picture 8" descr="A red circle on a black background&#10;&#10;AI-generated content may be incorrect.">
            <a:extLst>
              <a:ext uri="{FF2B5EF4-FFF2-40B4-BE49-F238E27FC236}">
                <a16:creationId xmlns:a16="http://schemas.microsoft.com/office/drawing/2014/main" id="{CBE85E6B-583F-E7E1-7DE6-F027E7310A4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121" y="5672988"/>
            <a:ext cx="1203370" cy="7560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0CF8C5E-55B8-103E-998D-24FE2BBB10BD}"/>
              </a:ext>
            </a:extLst>
          </p:cNvPr>
          <p:cNvCxnSpPr>
            <a:cxnSpLocks/>
          </p:cNvCxnSpPr>
          <p:nvPr userDrawn="1"/>
        </p:nvCxnSpPr>
        <p:spPr>
          <a:xfrm>
            <a:off x="3194910" y="5833220"/>
            <a:ext cx="0" cy="435537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610978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 userDrawn="1"/>
        </p:nvSpPr>
        <p:spPr>
          <a:xfrm flipH="1">
            <a:off x="-1" y="6419821"/>
            <a:ext cx="11264000" cy="438180"/>
          </a:xfrm>
          <a:custGeom>
            <a:avLst/>
            <a:gdLst>
              <a:gd name="connsiteX0" fmla="*/ 11264000 w 11264000"/>
              <a:gd name="connsiteY0" fmla="*/ 0 h 438180"/>
              <a:gd name="connsiteX1" fmla="*/ 0 w 11264000"/>
              <a:gd name="connsiteY1" fmla="*/ 0 h 438180"/>
              <a:gd name="connsiteX2" fmla="*/ 172203 w 11264000"/>
              <a:gd name="connsiteY2" fmla="*/ 438180 h 438180"/>
              <a:gd name="connsiteX3" fmla="*/ 11264000 w 11264000"/>
              <a:gd name="connsiteY3" fmla="*/ 438180 h 438180"/>
              <a:gd name="connsiteX4" fmla="*/ 11264000 w 11264000"/>
              <a:gd name="connsiteY4" fmla="*/ 0 h 438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64000" h="438180">
                <a:moveTo>
                  <a:pt x="11264000" y="0"/>
                </a:moveTo>
                <a:lnTo>
                  <a:pt x="0" y="0"/>
                </a:lnTo>
                <a:lnTo>
                  <a:pt x="172203" y="438180"/>
                </a:lnTo>
                <a:lnTo>
                  <a:pt x="11264000" y="438180"/>
                </a:lnTo>
                <a:lnTo>
                  <a:pt x="1126400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 userDrawn="1"/>
        </p:nvSpPr>
        <p:spPr>
          <a:xfrm>
            <a:off x="11208783" y="6419820"/>
            <a:ext cx="983218" cy="438180"/>
          </a:xfrm>
          <a:custGeom>
            <a:avLst/>
            <a:gdLst>
              <a:gd name="connsiteX0" fmla="*/ 172204 w 983218"/>
              <a:gd name="connsiteY0" fmla="*/ 0 h 438180"/>
              <a:gd name="connsiteX1" fmla="*/ 983218 w 983218"/>
              <a:gd name="connsiteY1" fmla="*/ 0 h 438180"/>
              <a:gd name="connsiteX2" fmla="*/ 983218 w 983218"/>
              <a:gd name="connsiteY2" fmla="*/ 438180 h 438180"/>
              <a:gd name="connsiteX3" fmla="*/ 0 w 983218"/>
              <a:gd name="connsiteY3" fmla="*/ 438180 h 438180"/>
              <a:gd name="connsiteX4" fmla="*/ 172204 w 983218"/>
              <a:gd name="connsiteY4" fmla="*/ 0 h 438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3218" h="438180">
                <a:moveTo>
                  <a:pt x="172204" y="0"/>
                </a:moveTo>
                <a:lnTo>
                  <a:pt x="983218" y="0"/>
                </a:lnTo>
                <a:lnTo>
                  <a:pt x="983218" y="438180"/>
                </a:lnTo>
                <a:lnTo>
                  <a:pt x="0" y="438180"/>
                </a:lnTo>
                <a:lnTo>
                  <a:pt x="172204" y="0"/>
                </a:lnTo>
                <a:close/>
              </a:path>
            </a:pathLst>
          </a:custGeom>
          <a:gradFill>
            <a:gsLst>
              <a:gs pos="32000">
                <a:srgbClr val="283C88"/>
              </a:gs>
              <a:gs pos="100000">
                <a:srgbClr val="5F2C60"/>
              </a:gs>
            </a:gsLst>
            <a:lin ang="3852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4978" y="313299"/>
            <a:ext cx="11021962" cy="7221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4979" y="1201994"/>
            <a:ext cx="11021962" cy="5051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34" t="32447" r="19869" b="31872"/>
          <a:stretch/>
        </p:blipFill>
        <p:spPr>
          <a:xfrm>
            <a:off x="11441362" y="6453743"/>
            <a:ext cx="655748" cy="378198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4359" y="6448478"/>
            <a:ext cx="2743200" cy="3834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9BA28B9B-0C36-4B0C-9E4A-C3A158CBB1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3"/>
          </p:nvPr>
        </p:nvSpPr>
        <p:spPr>
          <a:xfrm>
            <a:off x="1" y="6448478"/>
            <a:ext cx="4114800" cy="3834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Critical Systems Research Group</a:t>
            </a:r>
          </a:p>
        </p:txBody>
      </p:sp>
    </p:spTree>
    <p:extLst>
      <p:ext uri="{BB962C8B-B14F-4D97-AF65-F5344CB8AC3E}">
        <p14:creationId xmlns:p14="http://schemas.microsoft.com/office/powerpoint/2010/main" val="946519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4" r:id="rId4"/>
    <p:sldLayoutId id="2147483655" r:id="rId5"/>
    <p:sldLayoutId id="2147483659" r:id="rId6"/>
    <p:sldLayoutId id="2147483662" r:id="rId7"/>
    <p:sldLayoutId id="2147483661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Tx/>
        <a:buChar char="◦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F66D57-09A3-C901-283A-D3E4D4CC71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err="1"/>
              <a:t>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CC26A1-A76A-4826-B558-3A43216D4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700" dirty="0"/>
              <a:t>NAME</a:t>
            </a:r>
            <a:endParaRPr lang="hu-HU" sz="3700" dirty="0"/>
          </a:p>
          <a:p>
            <a:r>
              <a:rPr lang="hu-HU" sz="2400" dirty="0"/>
              <a:t>https://ftsrg.mit.bme.hu/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F1AC3-343D-4751-8FC6-BE012C6CFC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Critical Systems Research Group</a:t>
            </a:r>
          </a:p>
        </p:txBody>
      </p:sp>
    </p:spTree>
    <p:extLst>
      <p:ext uri="{BB962C8B-B14F-4D97-AF65-F5344CB8AC3E}">
        <p14:creationId xmlns:p14="http://schemas.microsoft.com/office/powerpoint/2010/main" val="4082855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F98507-3EE5-90C5-0C5F-216EA2E3F1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Magyar címdia 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14A73FD-9B5A-1A69-0E53-6B2919B6B8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u-HU" sz="3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Név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u-HU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https://ftsrg.mit.bme.hu/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01E86B-1936-C462-6C2C-61E004DB65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Critical Systems Research Group</a:t>
            </a:r>
          </a:p>
        </p:txBody>
      </p:sp>
    </p:spTree>
    <p:extLst>
      <p:ext uri="{BB962C8B-B14F-4D97-AF65-F5344CB8AC3E}">
        <p14:creationId xmlns:p14="http://schemas.microsoft.com/office/powerpoint/2010/main" val="240167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D786C6-6D9A-59BE-5E29-EBD62A9D2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797" y="1149532"/>
            <a:ext cx="10844877" cy="1441268"/>
          </a:xfrm>
        </p:spPr>
        <p:txBody>
          <a:bodyPr/>
          <a:lstStyle/>
          <a:p>
            <a:r>
              <a:rPr lang="en-US"/>
              <a:t>Title</a:t>
            </a:r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A671C5-BD7A-7737-CC30-961F32373D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Critical Systems Research Group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7818FE2-3FD2-38CE-F5F7-13C6A222755D}"/>
              </a:ext>
            </a:extLst>
          </p:cNvPr>
          <p:cNvGrpSpPr/>
          <p:nvPr/>
        </p:nvGrpSpPr>
        <p:grpSpPr>
          <a:xfrm>
            <a:off x="2217161" y="4267201"/>
            <a:ext cx="3964564" cy="387332"/>
            <a:chOff x="2874386" y="4338728"/>
            <a:chExt cx="3964564" cy="38733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42744EE-3B4E-A47E-484C-3ABB9F76A59A}"/>
                </a:ext>
              </a:extLst>
            </p:cNvPr>
            <p:cNvGrpSpPr/>
            <p:nvPr/>
          </p:nvGrpSpPr>
          <p:grpSpPr>
            <a:xfrm>
              <a:off x="2874386" y="4366060"/>
              <a:ext cx="360000" cy="360000"/>
              <a:chOff x="1822750" y="4695980"/>
              <a:chExt cx="360000" cy="36000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1E88428E-F917-44AD-079E-76F31B258190}"/>
                  </a:ext>
                </a:extLst>
              </p:cNvPr>
              <p:cNvSpPr/>
              <p:nvPr/>
            </p:nvSpPr>
            <p:spPr>
              <a:xfrm>
                <a:off x="1822750" y="4695980"/>
                <a:ext cx="360000" cy="360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u-HU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pic>
            <p:nvPicPr>
              <p:cNvPr id="14" name="Graphic 13" descr="World with solid fill">
                <a:extLst>
                  <a:ext uri="{FF2B5EF4-FFF2-40B4-BE49-F238E27FC236}">
                    <a16:creationId xmlns:a16="http://schemas.microsoft.com/office/drawing/2014/main" id="{B82E9DFC-BCE9-CFC2-8B4B-9876B148E7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840750" y="4713980"/>
                <a:ext cx="324000" cy="324000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3D62756-3FC5-943D-E4C7-9007C65A2821}"/>
                </a:ext>
              </a:extLst>
            </p:cNvPr>
            <p:cNvSpPr txBox="1"/>
            <p:nvPr/>
          </p:nvSpPr>
          <p:spPr>
            <a:xfrm>
              <a:off x="3234386" y="4338728"/>
              <a:ext cx="36045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srgbClr val="FFFFFF"/>
                  </a:solidFill>
                  <a:latin typeface="Open Sans"/>
                </a:rPr>
                <a:t>h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rPr>
                <a:t>ome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rPr>
                <a:t>.</a:t>
              </a:r>
              <a:r>
                <a:rPr kumimoji="0" lang="hu-H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rPr>
                <a:t>mit.bme.hu/~micskeiz</a:t>
              </a:r>
              <a:endParaRPr kumimoji="0" lang="hu-HU" sz="1800" b="0" i="0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15" name="Subtitle 2">
            <a:extLst>
              <a:ext uri="{FF2B5EF4-FFF2-40B4-BE49-F238E27FC236}">
                <a16:creationId xmlns:a16="http://schemas.microsoft.com/office/drawing/2014/main" id="{D798EB44-D25A-02C5-2077-2B0E71C940F0}"/>
              </a:ext>
            </a:extLst>
          </p:cNvPr>
          <p:cNvSpPr txBox="1">
            <a:spLocks/>
          </p:cNvSpPr>
          <p:nvPr/>
        </p:nvSpPr>
        <p:spPr>
          <a:xfrm>
            <a:off x="2091798" y="2726540"/>
            <a:ext cx="4535026" cy="757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3700"/>
              <a:t>Zoltán</a:t>
            </a:r>
            <a:r>
              <a:rPr lang="en-US" sz="3700"/>
              <a:t> </a:t>
            </a:r>
            <a:r>
              <a:rPr lang="hu-HU" sz="3700"/>
              <a:t>Micskei</a:t>
            </a:r>
            <a:endParaRPr lang="en-US" sz="370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0B9D310-CAD2-CE68-3175-682588FAC33E}"/>
              </a:ext>
            </a:extLst>
          </p:cNvPr>
          <p:cNvSpPr txBox="1">
            <a:spLocks/>
          </p:cNvSpPr>
          <p:nvPr/>
        </p:nvSpPr>
        <p:spPr>
          <a:xfrm>
            <a:off x="2091798" y="3589645"/>
            <a:ext cx="8404752" cy="49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Budapest University of Technology and Economics (BME)</a:t>
            </a:r>
          </a:p>
        </p:txBody>
      </p:sp>
      <p:pic>
        <p:nvPicPr>
          <p:cNvPr id="18" name="Picture 17" descr="A person wearing glasses and a suit and tie&#10;&#10;Description automatically generated">
            <a:extLst>
              <a:ext uri="{FF2B5EF4-FFF2-40B4-BE49-F238E27FC236}">
                <a16:creationId xmlns:a16="http://schemas.microsoft.com/office/drawing/2014/main" id="{6FA44836-FED0-FE6D-93E9-6EC3A046CE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522" y="2889000"/>
            <a:ext cx="1080000" cy="1080000"/>
          </a:xfrm>
          <a:prstGeom prst="ellipse">
            <a:avLst/>
          </a:prstGeom>
          <a:ln>
            <a:noFill/>
          </a:ln>
          <a:effectLst/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132D1F1-DE5C-1BAF-96F8-41DFB089B702}"/>
              </a:ext>
            </a:extLst>
          </p:cNvPr>
          <p:cNvSpPr/>
          <p:nvPr/>
        </p:nvSpPr>
        <p:spPr>
          <a:xfrm>
            <a:off x="5486400" y="5657850"/>
            <a:ext cx="6172200" cy="9239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Partner or project logos, affiliations can come here</a:t>
            </a:r>
            <a:endParaRPr lang="hu-H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119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>
                <a:solidFill>
                  <a:schemeClr val="accent1"/>
                </a:solidFill>
              </a:rPr>
              <a:t>Overview (1)</a:t>
            </a:r>
          </a:p>
          <a:p>
            <a:pPr lvl="1"/>
            <a:r>
              <a:rPr lang="en-US"/>
              <a:t>V&amp;V techniques, Critical systems</a:t>
            </a:r>
          </a:p>
          <a:p>
            <a:r>
              <a:rPr lang="en-US">
                <a:solidFill>
                  <a:schemeClr val="accent1"/>
                </a:solidFill>
              </a:rPr>
              <a:t>Static techniques (2)</a:t>
            </a:r>
          </a:p>
          <a:p>
            <a:pPr lvl="1"/>
            <a:r>
              <a:rPr lang="en-US"/>
              <a:t>Verifying specifications</a:t>
            </a:r>
          </a:p>
          <a:p>
            <a:pPr lvl="1"/>
            <a:r>
              <a:rPr lang="en-US"/>
              <a:t>Verifying source code</a:t>
            </a:r>
          </a:p>
          <a:p>
            <a:r>
              <a:rPr lang="en-US">
                <a:solidFill>
                  <a:schemeClr val="accent1"/>
                </a:solidFill>
              </a:rPr>
              <a:t>Dynamic techniques: Testing (7)</a:t>
            </a:r>
          </a:p>
          <a:p>
            <a:pPr lvl="1"/>
            <a:r>
              <a:rPr lang="en-US"/>
              <a:t>Developer testing, Test design techniques</a:t>
            </a:r>
          </a:p>
          <a:p>
            <a:pPr lvl="1"/>
            <a:r>
              <a:rPr lang="en-US"/>
              <a:t>Testing process and levels, Test generation, Automation</a:t>
            </a:r>
          </a:p>
          <a:p>
            <a:r>
              <a:rPr lang="en-US" b="1">
                <a:solidFill>
                  <a:schemeClr val="accent1"/>
                </a:solidFill>
              </a:rPr>
              <a:t>System-level verification (3)</a:t>
            </a:r>
          </a:p>
          <a:p>
            <a:pPr lvl="1"/>
            <a:r>
              <a:rPr lang="en-US"/>
              <a:t>Verifying architecture, </a:t>
            </a:r>
            <a:r>
              <a:rPr lang="en-US" b="1"/>
              <a:t>Dependability analysis</a:t>
            </a:r>
          </a:p>
          <a:p>
            <a:pPr lvl="1"/>
            <a:r>
              <a:rPr lang="en-US"/>
              <a:t>Runtime verification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74978" y="313299"/>
            <a:ext cx="11021962" cy="722187"/>
          </a:xfrm>
        </p:spPr>
        <p:txBody>
          <a:bodyPr/>
          <a:lstStyle/>
          <a:p>
            <a:r>
              <a:rPr lang="en-US"/>
              <a:t>Main topics of the course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Critical Systems Research Group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443A6B-AE27-5217-45D5-EBAF74710E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A28B9B-0C36-4B0C-9E4A-C3A158CBB1F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83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/>
          <p:cNvSpPr/>
          <p:nvPr/>
        </p:nvSpPr>
        <p:spPr>
          <a:xfrm>
            <a:off x="-3" y="1146770"/>
            <a:ext cx="1077917" cy="612898"/>
          </a:xfrm>
          <a:custGeom>
            <a:avLst/>
            <a:gdLst>
              <a:gd name="connsiteX0" fmla="*/ 0 w 1077917"/>
              <a:gd name="connsiteY0" fmla="*/ 0 h 612898"/>
              <a:gd name="connsiteX1" fmla="*/ 1077917 w 1077917"/>
              <a:gd name="connsiteY1" fmla="*/ 0 h 612898"/>
              <a:gd name="connsiteX2" fmla="*/ 837049 w 1077917"/>
              <a:gd name="connsiteY2" fmla="*/ 612898 h 612898"/>
              <a:gd name="connsiteX3" fmla="*/ 0 w 1077917"/>
              <a:gd name="connsiteY3" fmla="*/ 612898 h 612898"/>
              <a:gd name="connsiteX4" fmla="*/ 0 w 1077917"/>
              <a:gd name="connsiteY4" fmla="*/ 0 h 612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7917" h="612898">
                <a:moveTo>
                  <a:pt x="0" y="0"/>
                </a:moveTo>
                <a:lnTo>
                  <a:pt x="1077917" y="0"/>
                </a:lnTo>
                <a:lnTo>
                  <a:pt x="837049" y="612898"/>
                </a:lnTo>
                <a:lnTo>
                  <a:pt x="0" y="61289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82880" rtlCol="0" anchor="ctr"/>
          <a:lstStyle/>
          <a:p>
            <a:pPr algn="ctr"/>
            <a:r>
              <a:rPr lang="en-US" sz="2800"/>
              <a:t>1.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1157748" y="1201994"/>
            <a:ext cx="10439191" cy="50513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</a:rPr>
              <a:t>Attributes</a:t>
            </a:r>
            <a:r>
              <a:rPr lang="en-US"/>
              <a:t> of dependability</a:t>
            </a:r>
          </a:p>
          <a:p>
            <a:pPr lvl="1"/>
            <a:r>
              <a:rPr lang="en-US"/>
              <a:t>Reliability, availability</a:t>
            </a:r>
          </a:p>
          <a:p>
            <a:pPr lvl="1">
              <a:spcAft>
                <a:spcPts val="1500"/>
              </a:spcAft>
            </a:pPr>
            <a:r>
              <a:rPr lang="en-US"/>
              <a:t>Safety, integrity, maintainability</a:t>
            </a:r>
          </a:p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</a:rPr>
              <a:t>Combinatorial models </a:t>
            </a:r>
            <a:r>
              <a:rPr lang="en-US"/>
              <a:t>for dependability analysis</a:t>
            </a:r>
          </a:p>
          <a:p>
            <a:pPr lvl="1">
              <a:spcAft>
                <a:spcPts val="1500"/>
              </a:spcAft>
            </a:pPr>
            <a:r>
              <a:rPr lang="en-US"/>
              <a:t>Reliability block diagrams</a:t>
            </a:r>
          </a:p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</a:rPr>
              <a:t>Stochastic models </a:t>
            </a:r>
            <a:r>
              <a:rPr lang="en-US"/>
              <a:t>for dependability analysis</a:t>
            </a:r>
          </a:p>
          <a:p>
            <a:pPr lvl="1"/>
            <a:r>
              <a:rPr lang="en-US"/>
              <a:t>Markov models (CTMC)</a:t>
            </a:r>
          </a:p>
        </p:txBody>
      </p:sp>
      <p:sp>
        <p:nvSpPr>
          <p:cNvPr id="27" name="Freeform 26"/>
          <p:cNvSpPr/>
          <p:nvPr/>
        </p:nvSpPr>
        <p:spPr>
          <a:xfrm>
            <a:off x="0" y="2766993"/>
            <a:ext cx="1077917" cy="612898"/>
          </a:xfrm>
          <a:custGeom>
            <a:avLst/>
            <a:gdLst>
              <a:gd name="connsiteX0" fmla="*/ 0 w 1077917"/>
              <a:gd name="connsiteY0" fmla="*/ 0 h 612898"/>
              <a:gd name="connsiteX1" fmla="*/ 1077917 w 1077917"/>
              <a:gd name="connsiteY1" fmla="*/ 0 h 612898"/>
              <a:gd name="connsiteX2" fmla="*/ 837049 w 1077917"/>
              <a:gd name="connsiteY2" fmla="*/ 612898 h 612898"/>
              <a:gd name="connsiteX3" fmla="*/ 0 w 1077917"/>
              <a:gd name="connsiteY3" fmla="*/ 612898 h 612898"/>
              <a:gd name="connsiteX4" fmla="*/ 0 w 1077917"/>
              <a:gd name="connsiteY4" fmla="*/ 0 h 612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7917" h="612898">
                <a:moveTo>
                  <a:pt x="0" y="0"/>
                </a:moveTo>
                <a:lnTo>
                  <a:pt x="1077917" y="0"/>
                </a:lnTo>
                <a:lnTo>
                  <a:pt x="837049" y="612898"/>
                </a:lnTo>
                <a:lnTo>
                  <a:pt x="0" y="61289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82880" rtlCol="0" anchor="ctr"/>
          <a:lstStyle/>
          <a:p>
            <a:pPr algn="ctr"/>
            <a:r>
              <a:rPr lang="en-US" sz="2800"/>
              <a:t>2.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978" y="313299"/>
            <a:ext cx="11021962" cy="722187"/>
          </a:xfrm>
        </p:spPr>
        <p:txBody>
          <a:bodyPr>
            <a:normAutofit/>
          </a:bodyPr>
          <a:lstStyle/>
          <a:p>
            <a:r>
              <a:rPr lang="en-US"/>
              <a:t>Table of contents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Critical Systems Research Group</a:t>
            </a:r>
          </a:p>
        </p:txBody>
      </p:sp>
      <p:sp>
        <p:nvSpPr>
          <p:cNvPr id="28" name="Freeform 27"/>
          <p:cNvSpPr/>
          <p:nvPr/>
        </p:nvSpPr>
        <p:spPr>
          <a:xfrm>
            <a:off x="-4" y="3937226"/>
            <a:ext cx="1077917" cy="612898"/>
          </a:xfrm>
          <a:custGeom>
            <a:avLst/>
            <a:gdLst>
              <a:gd name="connsiteX0" fmla="*/ 0 w 1077917"/>
              <a:gd name="connsiteY0" fmla="*/ 0 h 612898"/>
              <a:gd name="connsiteX1" fmla="*/ 1077917 w 1077917"/>
              <a:gd name="connsiteY1" fmla="*/ 0 h 612898"/>
              <a:gd name="connsiteX2" fmla="*/ 837049 w 1077917"/>
              <a:gd name="connsiteY2" fmla="*/ 612898 h 612898"/>
              <a:gd name="connsiteX3" fmla="*/ 0 w 1077917"/>
              <a:gd name="connsiteY3" fmla="*/ 612898 h 612898"/>
              <a:gd name="connsiteX4" fmla="*/ 0 w 1077917"/>
              <a:gd name="connsiteY4" fmla="*/ 0 h 612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7917" h="612898">
                <a:moveTo>
                  <a:pt x="0" y="0"/>
                </a:moveTo>
                <a:lnTo>
                  <a:pt x="1077917" y="0"/>
                </a:lnTo>
                <a:lnTo>
                  <a:pt x="837049" y="612898"/>
                </a:lnTo>
                <a:lnTo>
                  <a:pt x="0" y="61289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82880" rtlCol="0" anchor="ctr"/>
          <a:lstStyle/>
          <a:p>
            <a:pPr algn="ctr"/>
            <a:r>
              <a:rPr lang="en-US" sz="2800"/>
              <a:t>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21ACB-F394-125C-E900-10654EA6FB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A28B9B-0C36-4B0C-9E4A-C3A158CBB1F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12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1157748" y="1201994"/>
            <a:ext cx="10535056" cy="5051321"/>
          </a:xfrm>
        </p:spPr>
        <p:txBody>
          <a:bodyPr/>
          <a:lstStyle/>
          <a:p>
            <a:pPr marL="0" indent="0">
              <a:spcAft>
                <a:spcPts val="1500"/>
              </a:spcAft>
              <a:buNone/>
            </a:pPr>
            <a:r>
              <a:rPr lang="en-US"/>
              <a:t>Explain the </a:t>
            </a:r>
            <a:r>
              <a:rPr lang="en-US">
                <a:solidFill>
                  <a:schemeClr val="accent2"/>
                </a:solidFill>
              </a:rPr>
              <a:t>attributes of dependability </a:t>
            </a:r>
            <a:r>
              <a:rPr lang="en-US"/>
              <a:t>and</a:t>
            </a:r>
            <a:br>
              <a:rPr lang="en-US"/>
            </a:br>
            <a:r>
              <a:rPr lang="en-US"/>
              <a:t>the objectives of </a:t>
            </a:r>
            <a:r>
              <a:rPr lang="en-US">
                <a:solidFill>
                  <a:schemeClr val="accent2"/>
                </a:solidFill>
              </a:rPr>
              <a:t>dependability analysis</a:t>
            </a:r>
          </a:p>
          <a:p>
            <a:pPr marL="0" indent="0">
              <a:spcAft>
                <a:spcPts val="1500"/>
              </a:spcAft>
              <a:buNone/>
            </a:pPr>
            <a:r>
              <a:rPr lang="en-US"/>
              <a:t>Perform dependability analysis with</a:t>
            </a:r>
            <a:br>
              <a:rPr lang="en-US"/>
            </a:br>
            <a:r>
              <a:rPr lang="en-US">
                <a:solidFill>
                  <a:schemeClr val="accent2"/>
                </a:solidFill>
              </a:rPr>
              <a:t>reliability block diagrams</a:t>
            </a:r>
          </a:p>
          <a:p>
            <a:pPr marL="0" indent="0">
              <a:spcAft>
                <a:spcPts val="1500"/>
              </a:spcAft>
              <a:buNone/>
            </a:pPr>
            <a:r>
              <a:rPr lang="en-US"/>
              <a:t>Perform dependability analysis of</a:t>
            </a:r>
            <a:br>
              <a:rPr lang="en-US"/>
            </a:br>
            <a:r>
              <a:rPr lang="en-US"/>
              <a:t>simple redundancy structures with </a:t>
            </a:r>
            <a:r>
              <a:rPr lang="en-US">
                <a:solidFill>
                  <a:schemeClr val="accent2"/>
                </a:solidFill>
              </a:rPr>
              <a:t>Markov chains</a:t>
            </a:r>
          </a:p>
          <a:p>
            <a:pPr marL="0" indent="0">
              <a:spcAft>
                <a:spcPts val="1500"/>
              </a:spcAft>
              <a:buNone/>
            </a:pPr>
            <a:r>
              <a:rPr lang="en-US"/>
              <a:t>Identify how </a:t>
            </a:r>
            <a:r>
              <a:rPr lang="en-US">
                <a:solidFill>
                  <a:schemeClr val="accent2"/>
                </a:solidFill>
              </a:rPr>
              <a:t>reward analysis </a:t>
            </a:r>
            <a:r>
              <a:rPr lang="en-US"/>
              <a:t>can be used for</a:t>
            </a:r>
            <a:br>
              <a:rPr lang="en-US"/>
            </a:br>
            <a:r>
              <a:rPr lang="en-US"/>
              <a:t>dependability analysis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74978" y="313299"/>
            <a:ext cx="11021962" cy="722187"/>
          </a:xfrm>
        </p:spPr>
        <p:txBody>
          <a:bodyPr/>
          <a:lstStyle/>
          <a:p>
            <a:r>
              <a:rPr lang="en-US"/>
              <a:t>Learning outcomes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Critical Systems Research Group</a:t>
            </a:r>
          </a:p>
        </p:txBody>
      </p:sp>
      <p:sp>
        <p:nvSpPr>
          <p:cNvPr id="14" name="Freeform 13"/>
          <p:cNvSpPr/>
          <p:nvPr/>
        </p:nvSpPr>
        <p:spPr>
          <a:xfrm>
            <a:off x="-3" y="1146770"/>
            <a:ext cx="1077917" cy="612898"/>
          </a:xfrm>
          <a:custGeom>
            <a:avLst/>
            <a:gdLst>
              <a:gd name="connsiteX0" fmla="*/ 0 w 1077917"/>
              <a:gd name="connsiteY0" fmla="*/ 0 h 612898"/>
              <a:gd name="connsiteX1" fmla="*/ 1077917 w 1077917"/>
              <a:gd name="connsiteY1" fmla="*/ 0 h 612898"/>
              <a:gd name="connsiteX2" fmla="*/ 837049 w 1077917"/>
              <a:gd name="connsiteY2" fmla="*/ 612898 h 612898"/>
              <a:gd name="connsiteX3" fmla="*/ 0 w 1077917"/>
              <a:gd name="connsiteY3" fmla="*/ 612898 h 612898"/>
              <a:gd name="connsiteX4" fmla="*/ 0 w 1077917"/>
              <a:gd name="connsiteY4" fmla="*/ 0 h 612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7917" h="612898">
                <a:moveTo>
                  <a:pt x="0" y="0"/>
                </a:moveTo>
                <a:lnTo>
                  <a:pt x="1077917" y="0"/>
                </a:lnTo>
                <a:lnTo>
                  <a:pt x="837049" y="612898"/>
                </a:lnTo>
                <a:lnTo>
                  <a:pt x="0" y="61289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82880" rtlCol="0" anchor="ctr"/>
          <a:lstStyle/>
          <a:p>
            <a:pPr algn="ctr"/>
            <a:r>
              <a:rPr lang="en-US" sz="2800"/>
              <a:t>K2</a:t>
            </a:r>
          </a:p>
        </p:txBody>
      </p:sp>
      <p:sp>
        <p:nvSpPr>
          <p:cNvPr id="15" name="Freeform 14"/>
          <p:cNvSpPr/>
          <p:nvPr/>
        </p:nvSpPr>
        <p:spPr>
          <a:xfrm>
            <a:off x="-4" y="2322508"/>
            <a:ext cx="1077917" cy="612898"/>
          </a:xfrm>
          <a:custGeom>
            <a:avLst/>
            <a:gdLst>
              <a:gd name="connsiteX0" fmla="*/ 0 w 1077917"/>
              <a:gd name="connsiteY0" fmla="*/ 0 h 612898"/>
              <a:gd name="connsiteX1" fmla="*/ 1077917 w 1077917"/>
              <a:gd name="connsiteY1" fmla="*/ 0 h 612898"/>
              <a:gd name="connsiteX2" fmla="*/ 837049 w 1077917"/>
              <a:gd name="connsiteY2" fmla="*/ 612898 h 612898"/>
              <a:gd name="connsiteX3" fmla="*/ 0 w 1077917"/>
              <a:gd name="connsiteY3" fmla="*/ 612898 h 612898"/>
              <a:gd name="connsiteX4" fmla="*/ 0 w 1077917"/>
              <a:gd name="connsiteY4" fmla="*/ 0 h 612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7917" h="612898">
                <a:moveTo>
                  <a:pt x="0" y="0"/>
                </a:moveTo>
                <a:lnTo>
                  <a:pt x="1077917" y="0"/>
                </a:lnTo>
                <a:lnTo>
                  <a:pt x="837049" y="612898"/>
                </a:lnTo>
                <a:lnTo>
                  <a:pt x="0" y="61289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82880" rtlCol="0" anchor="ctr"/>
          <a:lstStyle/>
          <a:p>
            <a:pPr algn="ctr"/>
            <a:r>
              <a:rPr lang="en-US" sz="2800"/>
              <a:t>K3</a:t>
            </a:r>
          </a:p>
        </p:txBody>
      </p:sp>
      <p:sp>
        <p:nvSpPr>
          <p:cNvPr id="16" name="Freeform 15"/>
          <p:cNvSpPr/>
          <p:nvPr/>
        </p:nvSpPr>
        <p:spPr>
          <a:xfrm>
            <a:off x="-5" y="3514765"/>
            <a:ext cx="1077917" cy="612898"/>
          </a:xfrm>
          <a:custGeom>
            <a:avLst/>
            <a:gdLst>
              <a:gd name="connsiteX0" fmla="*/ 0 w 1077917"/>
              <a:gd name="connsiteY0" fmla="*/ 0 h 612898"/>
              <a:gd name="connsiteX1" fmla="*/ 1077917 w 1077917"/>
              <a:gd name="connsiteY1" fmla="*/ 0 h 612898"/>
              <a:gd name="connsiteX2" fmla="*/ 837049 w 1077917"/>
              <a:gd name="connsiteY2" fmla="*/ 612898 h 612898"/>
              <a:gd name="connsiteX3" fmla="*/ 0 w 1077917"/>
              <a:gd name="connsiteY3" fmla="*/ 612898 h 612898"/>
              <a:gd name="connsiteX4" fmla="*/ 0 w 1077917"/>
              <a:gd name="connsiteY4" fmla="*/ 0 h 612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7917" h="612898">
                <a:moveTo>
                  <a:pt x="0" y="0"/>
                </a:moveTo>
                <a:lnTo>
                  <a:pt x="1077917" y="0"/>
                </a:lnTo>
                <a:lnTo>
                  <a:pt x="837049" y="612898"/>
                </a:lnTo>
                <a:lnTo>
                  <a:pt x="0" y="61289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82880" rtlCol="0" anchor="ctr"/>
          <a:lstStyle/>
          <a:p>
            <a:pPr algn="ctr"/>
            <a:r>
              <a:rPr lang="en-US" sz="2800"/>
              <a:t>K3</a:t>
            </a:r>
          </a:p>
        </p:txBody>
      </p:sp>
      <p:sp>
        <p:nvSpPr>
          <p:cNvPr id="17" name="Freeform 16"/>
          <p:cNvSpPr/>
          <p:nvPr/>
        </p:nvSpPr>
        <p:spPr>
          <a:xfrm>
            <a:off x="-6" y="4673483"/>
            <a:ext cx="1077917" cy="612898"/>
          </a:xfrm>
          <a:custGeom>
            <a:avLst/>
            <a:gdLst>
              <a:gd name="connsiteX0" fmla="*/ 0 w 1077917"/>
              <a:gd name="connsiteY0" fmla="*/ 0 h 612898"/>
              <a:gd name="connsiteX1" fmla="*/ 1077917 w 1077917"/>
              <a:gd name="connsiteY1" fmla="*/ 0 h 612898"/>
              <a:gd name="connsiteX2" fmla="*/ 837049 w 1077917"/>
              <a:gd name="connsiteY2" fmla="*/ 612898 h 612898"/>
              <a:gd name="connsiteX3" fmla="*/ 0 w 1077917"/>
              <a:gd name="connsiteY3" fmla="*/ 612898 h 612898"/>
              <a:gd name="connsiteX4" fmla="*/ 0 w 1077917"/>
              <a:gd name="connsiteY4" fmla="*/ 0 h 612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7917" h="612898">
                <a:moveTo>
                  <a:pt x="0" y="0"/>
                </a:moveTo>
                <a:lnTo>
                  <a:pt x="1077917" y="0"/>
                </a:lnTo>
                <a:lnTo>
                  <a:pt x="837049" y="612898"/>
                </a:lnTo>
                <a:lnTo>
                  <a:pt x="0" y="61289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82880" rtlCol="0" anchor="ctr"/>
          <a:lstStyle/>
          <a:p>
            <a:pPr algn="ctr"/>
            <a:r>
              <a:rPr lang="en-US" sz="2800"/>
              <a:t>K1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43DD2C-64F8-1B6A-AC29-DEC3A7DADC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A28B9B-0C36-4B0C-9E4A-C3A158CBB1F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823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Attributes of dependability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Critical Systems Research Group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2310" y="2040810"/>
            <a:ext cx="3128727" cy="27813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522E06-C011-E909-7DCA-B9A025D97A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A28B9B-0C36-4B0C-9E4A-C3A158CBB1F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788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Critical Systems Research Group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569323431"/>
              </p:ext>
            </p:extLst>
          </p:nvPr>
        </p:nvGraphicFramePr>
        <p:xfrm>
          <a:off x="574675" y="1201738"/>
          <a:ext cx="11022013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 of contents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24C812-DA39-6CC7-732F-A5E1415EA2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A28B9B-0C36-4B0C-9E4A-C3A158CBB1F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515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Critical Systems Research Group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548381586"/>
              </p:ext>
            </p:extLst>
          </p:nvPr>
        </p:nvGraphicFramePr>
        <p:xfrm>
          <a:off x="574675" y="1201738"/>
          <a:ext cx="11022013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 of contents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2A1E00-337A-CCC2-384B-C20A8D3D6B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A28B9B-0C36-4B0C-9E4A-C3A158CBB1F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849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Typical extra-functional characteristics</a:t>
            </a:r>
          </a:p>
          <a:p>
            <a:pPr lvl="1"/>
            <a:r>
              <a:rPr lang="en-US"/>
              <a:t>Reliability, availability, integrity, etc.</a:t>
            </a:r>
          </a:p>
          <a:p>
            <a:pPr lvl="1"/>
            <a:r>
              <a:rPr lang="en-US"/>
              <a:t>Characterize the faults occurring during the use of the services</a:t>
            </a:r>
          </a:p>
          <a:p>
            <a:r>
              <a:rPr lang="en-US"/>
              <a:t>Composite characteristic: </a:t>
            </a:r>
            <a:r>
              <a:rPr lang="en-US">
                <a:solidFill>
                  <a:schemeClr val="accent1"/>
                </a:solidFill>
              </a:rPr>
              <a:t>Dependability</a:t>
            </a:r>
          </a:p>
          <a:p>
            <a:pPr lvl="1"/>
            <a:endParaRPr lang="en-US">
              <a:solidFill>
                <a:schemeClr val="accent1"/>
              </a:solidFill>
            </a:endParaRPr>
          </a:p>
          <a:p>
            <a:pPr lvl="1"/>
            <a:endParaRPr lang="en-US">
              <a:solidFill>
                <a:schemeClr val="accent1"/>
              </a:solidFill>
            </a:endParaRPr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Role of dependability</a:t>
            </a:r>
          </a:p>
          <a:p>
            <a:pPr lvl="1"/>
            <a:r>
              <a:rPr lang="en-US"/>
              <a:t>Service Level Agreements (IT service providers)</a:t>
            </a:r>
          </a:p>
          <a:p>
            <a:pPr lvl="1"/>
            <a:r>
              <a:rPr lang="en-US"/>
              <a:t>Tolerable Hazard Rate (safety-critical systems)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74978" y="313299"/>
            <a:ext cx="11021962" cy="722187"/>
          </a:xfrm>
        </p:spPr>
        <p:txBody>
          <a:bodyPr/>
          <a:lstStyle/>
          <a:p>
            <a:r>
              <a:rPr lang="en-US"/>
              <a:t>Characterizing system services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Critical Systems Research Group</a:t>
            </a:r>
          </a:p>
        </p:txBody>
      </p:sp>
      <p:sp>
        <p:nvSpPr>
          <p:cNvPr id="27" name="Freeform 26"/>
          <p:cNvSpPr/>
          <p:nvPr/>
        </p:nvSpPr>
        <p:spPr>
          <a:xfrm>
            <a:off x="1808613" y="3039490"/>
            <a:ext cx="10383389" cy="876910"/>
          </a:xfrm>
          <a:custGeom>
            <a:avLst/>
            <a:gdLst>
              <a:gd name="connsiteX0" fmla="*/ 344624 w 10383389"/>
              <a:gd name="connsiteY0" fmla="*/ 0 h 876910"/>
              <a:gd name="connsiteX1" fmla="*/ 10383389 w 10383389"/>
              <a:gd name="connsiteY1" fmla="*/ 0 h 876910"/>
              <a:gd name="connsiteX2" fmla="*/ 10383389 w 10383389"/>
              <a:gd name="connsiteY2" fmla="*/ 876910 h 876910"/>
              <a:gd name="connsiteX3" fmla="*/ 0 w 10383389"/>
              <a:gd name="connsiteY3" fmla="*/ 876910 h 876910"/>
              <a:gd name="connsiteX4" fmla="*/ 344624 w 10383389"/>
              <a:gd name="connsiteY4" fmla="*/ 0 h 87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83389" h="876910">
                <a:moveTo>
                  <a:pt x="344624" y="0"/>
                </a:moveTo>
                <a:lnTo>
                  <a:pt x="10383389" y="0"/>
                </a:lnTo>
                <a:lnTo>
                  <a:pt x="10383389" y="876910"/>
                </a:lnTo>
                <a:lnTo>
                  <a:pt x="0" y="876910"/>
                </a:lnTo>
                <a:lnTo>
                  <a:pt x="344624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91440" rtlCol="0" anchor="ctr"/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Ability to provide service in which </a:t>
            </a:r>
            <a:r>
              <a:rPr lang="en-US" sz="2400" b="1">
                <a:solidFill>
                  <a:schemeClr val="bg1"/>
                </a:solidFill>
              </a:rPr>
              <a:t>reliance</a:t>
            </a:r>
            <a:r>
              <a:rPr lang="en-US" sz="2400">
                <a:solidFill>
                  <a:schemeClr val="bg1"/>
                </a:solidFill>
              </a:rPr>
              <a:t> can be </a:t>
            </a:r>
            <a:r>
              <a:rPr lang="en-US" sz="2400" b="1">
                <a:solidFill>
                  <a:schemeClr val="bg1"/>
                </a:solidFill>
              </a:rPr>
              <a:t>justifiably</a:t>
            </a:r>
            <a:r>
              <a:rPr lang="en-US" sz="2400">
                <a:solidFill>
                  <a:schemeClr val="bg1"/>
                </a:solidFill>
              </a:rPr>
              <a:t> placed</a:t>
            </a:r>
          </a:p>
        </p:txBody>
      </p:sp>
      <p:sp>
        <p:nvSpPr>
          <p:cNvPr id="18" name="Rectangular Callout 17"/>
          <p:cNvSpPr/>
          <p:nvPr/>
        </p:nvSpPr>
        <p:spPr>
          <a:xfrm>
            <a:off x="929148" y="4082908"/>
            <a:ext cx="6046840" cy="507956"/>
          </a:xfrm>
          <a:prstGeom prst="wedgeRectCallout">
            <a:avLst>
              <a:gd name="adj1" fmla="val 55194"/>
              <a:gd name="adj2" fmla="val -131172"/>
            </a:avLst>
          </a:prstGeom>
          <a:solidFill>
            <a:schemeClr val="bg1"/>
          </a:solidFill>
          <a:ln w="28575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Reliance: </a:t>
            </a:r>
            <a:r>
              <a:rPr lang="en-US" sz="2400">
                <a:solidFill>
                  <a:schemeClr val="tx1"/>
                </a:solidFill>
              </a:rPr>
              <a:t>the service satisfies the needs</a:t>
            </a:r>
          </a:p>
        </p:txBody>
      </p:sp>
      <p:sp>
        <p:nvSpPr>
          <p:cNvPr id="17" name="Rectangular Callout 16"/>
          <p:cNvSpPr/>
          <p:nvPr/>
        </p:nvSpPr>
        <p:spPr>
          <a:xfrm>
            <a:off x="7206624" y="4082908"/>
            <a:ext cx="4390316" cy="848032"/>
          </a:xfrm>
          <a:prstGeom prst="wedgeRectCallout">
            <a:avLst>
              <a:gd name="adj1" fmla="val 19817"/>
              <a:gd name="adj2" fmla="val -92175"/>
            </a:avLst>
          </a:prstGeom>
          <a:solidFill>
            <a:schemeClr val="bg1"/>
          </a:solidFill>
          <a:ln w="28575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Justifiably: </a:t>
            </a:r>
            <a:r>
              <a:rPr lang="en-US" sz="2400">
                <a:solidFill>
                  <a:schemeClr val="tx1"/>
                </a:solidFill>
              </a:rPr>
              <a:t>based on analysis, evaluation, measurements</a:t>
            </a:r>
          </a:p>
        </p:txBody>
      </p:sp>
      <p:sp>
        <p:nvSpPr>
          <p:cNvPr id="16" name="Freeform 15"/>
          <p:cNvSpPr/>
          <p:nvPr/>
        </p:nvSpPr>
        <p:spPr>
          <a:xfrm>
            <a:off x="1" y="3040048"/>
            <a:ext cx="2036541" cy="876352"/>
          </a:xfrm>
          <a:custGeom>
            <a:avLst/>
            <a:gdLst>
              <a:gd name="connsiteX0" fmla="*/ 0 w 2036541"/>
              <a:gd name="connsiteY0" fmla="*/ 0 h 876352"/>
              <a:gd name="connsiteX1" fmla="*/ 2036541 w 2036541"/>
              <a:gd name="connsiteY1" fmla="*/ 0 h 876352"/>
              <a:gd name="connsiteX2" fmla="*/ 1692137 w 2036541"/>
              <a:gd name="connsiteY2" fmla="*/ 876352 h 876352"/>
              <a:gd name="connsiteX3" fmla="*/ 0 w 2036541"/>
              <a:gd name="connsiteY3" fmla="*/ 876352 h 876352"/>
              <a:gd name="connsiteX4" fmla="*/ 0 w 2036541"/>
              <a:gd name="connsiteY4" fmla="*/ 0 h 87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6541" h="876352">
                <a:moveTo>
                  <a:pt x="0" y="0"/>
                </a:moveTo>
                <a:lnTo>
                  <a:pt x="2036541" y="0"/>
                </a:lnTo>
                <a:lnTo>
                  <a:pt x="1692137" y="876352"/>
                </a:lnTo>
                <a:lnTo>
                  <a:pt x="0" y="87635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2000">
                <a:srgbClr val="283C88"/>
              </a:gs>
              <a:gs pos="100000">
                <a:srgbClr val="5F2C60"/>
              </a:gs>
            </a:gsLst>
            <a:lin ang="3852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274320" rtlCol="0" anchor="ctr">
            <a:noAutofit/>
          </a:bodyPr>
          <a:lstStyle/>
          <a:p>
            <a:pPr algn="ctr"/>
            <a:r>
              <a:rPr lang="en-US" sz="2400"/>
              <a:t>Definition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57BF8F-3355-105D-7B31-78641D4230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A28B9B-0C36-4B0C-9E4A-C3A158CBB1F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80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18" grpId="0" animBg="1"/>
      <p:bldP spid="17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Typical extra-functional characteristics</a:t>
            </a:r>
          </a:p>
          <a:p>
            <a:pPr lvl="1"/>
            <a:r>
              <a:rPr lang="en-US"/>
              <a:t>Reliability, availability, integrity, etc.</a:t>
            </a:r>
          </a:p>
          <a:p>
            <a:pPr lvl="1"/>
            <a:r>
              <a:rPr lang="en-US"/>
              <a:t>Characterize the faults occurring during the use of the services</a:t>
            </a:r>
          </a:p>
          <a:p>
            <a:r>
              <a:rPr lang="en-US"/>
              <a:t>Composite characteristic: </a:t>
            </a:r>
            <a:r>
              <a:rPr lang="en-US">
                <a:solidFill>
                  <a:schemeClr val="accent1"/>
                </a:solidFill>
              </a:rPr>
              <a:t>Dependability</a:t>
            </a:r>
          </a:p>
          <a:p>
            <a:pPr lvl="1"/>
            <a:endParaRPr lang="en-US">
              <a:solidFill>
                <a:schemeClr val="accent1"/>
              </a:solidFill>
            </a:endParaRPr>
          </a:p>
          <a:p>
            <a:pPr lvl="1"/>
            <a:endParaRPr lang="en-US">
              <a:solidFill>
                <a:schemeClr val="accent1"/>
              </a:solidFill>
            </a:endParaRPr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Role of dependability</a:t>
            </a:r>
          </a:p>
          <a:p>
            <a:pPr lvl="1"/>
            <a:r>
              <a:rPr lang="en-US"/>
              <a:t>Service Level Agreements (IT service providers)</a:t>
            </a:r>
          </a:p>
          <a:p>
            <a:pPr lvl="1"/>
            <a:r>
              <a:rPr lang="en-US"/>
              <a:t>Tolerable Hazard Rate (safety-critical systems)</a:t>
            </a:r>
          </a:p>
        </p:txBody>
      </p:sp>
      <p:sp>
        <p:nvSpPr>
          <p:cNvPr id="21" name="Freeform 20"/>
          <p:cNvSpPr/>
          <p:nvPr/>
        </p:nvSpPr>
        <p:spPr>
          <a:xfrm>
            <a:off x="1808613" y="3039490"/>
            <a:ext cx="10383389" cy="876910"/>
          </a:xfrm>
          <a:custGeom>
            <a:avLst/>
            <a:gdLst>
              <a:gd name="connsiteX0" fmla="*/ 344624 w 10383389"/>
              <a:gd name="connsiteY0" fmla="*/ 0 h 876910"/>
              <a:gd name="connsiteX1" fmla="*/ 10383389 w 10383389"/>
              <a:gd name="connsiteY1" fmla="*/ 0 h 876910"/>
              <a:gd name="connsiteX2" fmla="*/ 10383389 w 10383389"/>
              <a:gd name="connsiteY2" fmla="*/ 876910 h 876910"/>
              <a:gd name="connsiteX3" fmla="*/ 0 w 10383389"/>
              <a:gd name="connsiteY3" fmla="*/ 876910 h 876910"/>
              <a:gd name="connsiteX4" fmla="*/ 344624 w 10383389"/>
              <a:gd name="connsiteY4" fmla="*/ 0 h 876910"/>
              <a:gd name="connsiteX5" fmla="*/ 366715 w 10383389"/>
              <a:gd name="connsiteY5" fmla="*/ 31293 h 876910"/>
              <a:gd name="connsiteX6" fmla="*/ 46687 w 10383389"/>
              <a:gd name="connsiteY6" fmla="*/ 845617 h 876910"/>
              <a:gd name="connsiteX7" fmla="*/ 9526137 w 10383389"/>
              <a:gd name="connsiteY7" fmla="*/ 845617 h 876910"/>
              <a:gd name="connsiteX8" fmla="*/ 9689002 w 10383389"/>
              <a:gd name="connsiteY8" fmla="*/ 845617 h 876910"/>
              <a:gd name="connsiteX9" fmla="*/ 10383388 w 10383389"/>
              <a:gd name="connsiteY9" fmla="*/ 845617 h 876910"/>
              <a:gd name="connsiteX10" fmla="*/ 10383388 w 10383389"/>
              <a:gd name="connsiteY10" fmla="*/ 31293 h 876910"/>
              <a:gd name="connsiteX11" fmla="*/ 9689002 w 10383389"/>
              <a:gd name="connsiteY11" fmla="*/ 31293 h 876910"/>
              <a:gd name="connsiteX12" fmla="*/ 9526137 w 10383389"/>
              <a:gd name="connsiteY12" fmla="*/ 31293 h 876910"/>
              <a:gd name="connsiteX13" fmla="*/ 366715 w 10383389"/>
              <a:gd name="connsiteY13" fmla="*/ 31293 h 87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383389" h="876910">
                <a:moveTo>
                  <a:pt x="344624" y="0"/>
                </a:moveTo>
                <a:lnTo>
                  <a:pt x="10383389" y="0"/>
                </a:lnTo>
                <a:lnTo>
                  <a:pt x="10383389" y="876910"/>
                </a:lnTo>
                <a:lnTo>
                  <a:pt x="0" y="876910"/>
                </a:lnTo>
                <a:lnTo>
                  <a:pt x="344624" y="0"/>
                </a:lnTo>
                <a:close/>
                <a:moveTo>
                  <a:pt x="366715" y="31293"/>
                </a:moveTo>
                <a:lnTo>
                  <a:pt x="46687" y="845617"/>
                </a:lnTo>
                <a:lnTo>
                  <a:pt x="9526137" y="845617"/>
                </a:lnTo>
                <a:lnTo>
                  <a:pt x="9689002" y="845617"/>
                </a:lnTo>
                <a:lnTo>
                  <a:pt x="10383388" y="845617"/>
                </a:lnTo>
                <a:lnTo>
                  <a:pt x="10383388" y="31293"/>
                </a:lnTo>
                <a:lnTo>
                  <a:pt x="9689002" y="31293"/>
                </a:lnTo>
                <a:lnTo>
                  <a:pt x="9526137" y="31293"/>
                </a:lnTo>
                <a:lnTo>
                  <a:pt x="366715" y="31293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74978" y="313299"/>
            <a:ext cx="11021962" cy="722187"/>
          </a:xfrm>
        </p:spPr>
        <p:txBody>
          <a:bodyPr/>
          <a:lstStyle/>
          <a:p>
            <a:r>
              <a:rPr lang="en-US"/>
              <a:t>Characterizing system services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Critical Systems Research Group</a:t>
            </a:r>
          </a:p>
        </p:txBody>
      </p:sp>
      <p:sp>
        <p:nvSpPr>
          <p:cNvPr id="24" name="Freeform 23"/>
          <p:cNvSpPr/>
          <p:nvPr/>
        </p:nvSpPr>
        <p:spPr>
          <a:xfrm>
            <a:off x="1808613" y="3039490"/>
            <a:ext cx="10383389" cy="876910"/>
          </a:xfrm>
          <a:custGeom>
            <a:avLst/>
            <a:gdLst>
              <a:gd name="connsiteX0" fmla="*/ 344624 w 10383389"/>
              <a:gd name="connsiteY0" fmla="*/ 0 h 876910"/>
              <a:gd name="connsiteX1" fmla="*/ 10383389 w 10383389"/>
              <a:gd name="connsiteY1" fmla="*/ 0 h 876910"/>
              <a:gd name="connsiteX2" fmla="*/ 10383389 w 10383389"/>
              <a:gd name="connsiteY2" fmla="*/ 876910 h 876910"/>
              <a:gd name="connsiteX3" fmla="*/ 0 w 10383389"/>
              <a:gd name="connsiteY3" fmla="*/ 876910 h 876910"/>
              <a:gd name="connsiteX4" fmla="*/ 344624 w 10383389"/>
              <a:gd name="connsiteY4" fmla="*/ 0 h 87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83389" h="876910">
                <a:moveTo>
                  <a:pt x="344624" y="0"/>
                </a:moveTo>
                <a:lnTo>
                  <a:pt x="10383389" y="0"/>
                </a:lnTo>
                <a:lnTo>
                  <a:pt x="10383389" y="876910"/>
                </a:lnTo>
                <a:lnTo>
                  <a:pt x="0" y="876910"/>
                </a:lnTo>
                <a:lnTo>
                  <a:pt x="344624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9144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Ability to provide service in which </a:t>
            </a:r>
            <a:r>
              <a:rPr lang="en-US" sz="2400" b="1">
                <a:solidFill>
                  <a:schemeClr val="tx1"/>
                </a:solidFill>
              </a:rPr>
              <a:t>reliance</a:t>
            </a:r>
            <a:r>
              <a:rPr lang="en-US" sz="2400">
                <a:solidFill>
                  <a:schemeClr val="tx1"/>
                </a:solidFill>
              </a:rPr>
              <a:t> can be </a:t>
            </a:r>
            <a:r>
              <a:rPr lang="en-US" sz="2400" b="1">
                <a:solidFill>
                  <a:schemeClr val="tx1"/>
                </a:solidFill>
              </a:rPr>
              <a:t>justifiably</a:t>
            </a:r>
            <a:r>
              <a:rPr lang="en-US" sz="2400">
                <a:solidFill>
                  <a:schemeClr val="tx1"/>
                </a:solidFill>
              </a:rPr>
              <a:t> placed</a:t>
            </a:r>
          </a:p>
        </p:txBody>
      </p:sp>
      <p:sp>
        <p:nvSpPr>
          <p:cNvPr id="16" name="Freeform 15"/>
          <p:cNvSpPr/>
          <p:nvPr/>
        </p:nvSpPr>
        <p:spPr>
          <a:xfrm>
            <a:off x="1" y="3040048"/>
            <a:ext cx="2036541" cy="876352"/>
          </a:xfrm>
          <a:custGeom>
            <a:avLst/>
            <a:gdLst>
              <a:gd name="connsiteX0" fmla="*/ 0 w 2036541"/>
              <a:gd name="connsiteY0" fmla="*/ 0 h 876352"/>
              <a:gd name="connsiteX1" fmla="*/ 2036541 w 2036541"/>
              <a:gd name="connsiteY1" fmla="*/ 0 h 876352"/>
              <a:gd name="connsiteX2" fmla="*/ 1692137 w 2036541"/>
              <a:gd name="connsiteY2" fmla="*/ 876352 h 876352"/>
              <a:gd name="connsiteX3" fmla="*/ 0 w 2036541"/>
              <a:gd name="connsiteY3" fmla="*/ 876352 h 876352"/>
              <a:gd name="connsiteX4" fmla="*/ 0 w 2036541"/>
              <a:gd name="connsiteY4" fmla="*/ 0 h 87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6541" h="876352">
                <a:moveTo>
                  <a:pt x="0" y="0"/>
                </a:moveTo>
                <a:lnTo>
                  <a:pt x="2036541" y="0"/>
                </a:lnTo>
                <a:lnTo>
                  <a:pt x="1692137" y="876352"/>
                </a:lnTo>
                <a:lnTo>
                  <a:pt x="0" y="87635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2000">
                <a:srgbClr val="283C88"/>
              </a:gs>
              <a:gs pos="100000">
                <a:srgbClr val="5F2C60"/>
              </a:gs>
            </a:gsLst>
            <a:lin ang="3852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274320" rtlCol="0" anchor="ctr">
            <a:noAutofit/>
          </a:bodyPr>
          <a:lstStyle/>
          <a:p>
            <a:pPr algn="ctr"/>
            <a:r>
              <a:rPr lang="en-US" sz="2400"/>
              <a:t>Definition</a:t>
            </a:r>
          </a:p>
        </p:txBody>
      </p:sp>
      <p:sp>
        <p:nvSpPr>
          <p:cNvPr id="13" name="Rectangular Callout 12"/>
          <p:cNvSpPr/>
          <p:nvPr/>
        </p:nvSpPr>
        <p:spPr>
          <a:xfrm>
            <a:off x="929148" y="4082908"/>
            <a:ext cx="6046840" cy="507956"/>
          </a:xfrm>
          <a:prstGeom prst="wedgeRectCallout">
            <a:avLst>
              <a:gd name="adj1" fmla="val 55194"/>
              <a:gd name="adj2" fmla="val -131172"/>
            </a:avLst>
          </a:prstGeom>
          <a:ln w="285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Reliance: the service satisfies the needs</a:t>
            </a:r>
          </a:p>
        </p:txBody>
      </p:sp>
      <p:sp>
        <p:nvSpPr>
          <p:cNvPr id="14" name="Rectangular Callout 13"/>
          <p:cNvSpPr/>
          <p:nvPr/>
        </p:nvSpPr>
        <p:spPr>
          <a:xfrm>
            <a:off x="7206624" y="4082908"/>
            <a:ext cx="4390316" cy="848032"/>
          </a:xfrm>
          <a:prstGeom prst="wedgeRectCallout">
            <a:avLst>
              <a:gd name="adj1" fmla="val 19817"/>
              <a:gd name="adj2" fmla="val -92175"/>
            </a:avLst>
          </a:prstGeom>
          <a:ln w="285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Justifiably: based on analysis, evaluation, measurements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98F39F-FA5C-0AAB-7705-26910F7A27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A28B9B-0C36-4B0C-9E4A-C3A158CBB1F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334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/>
      <p:bldP spid="16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74978" y="313299"/>
            <a:ext cx="11021962" cy="722187"/>
          </a:xfrm>
        </p:spPr>
        <p:txBody>
          <a:bodyPr/>
          <a:lstStyle/>
          <a:p>
            <a:r>
              <a:rPr lang="en-US" noProof="0"/>
              <a:t>Generalization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4536F6-B75C-7D47-EC56-84D9294165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14359" y="6448478"/>
            <a:ext cx="2743200" cy="383463"/>
          </a:xfrm>
        </p:spPr>
        <p:txBody>
          <a:bodyPr/>
          <a:lstStyle/>
          <a:p>
            <a:fld id="{9BA28B9B-0C36-4B0C-9E4A-C3A158CBB1F1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2" b="5579"/>
          <a:stretch/>
        </p:blipFill>
        <p:spPr>
          <a:xfrm>
            <a:off x="4035202" y="873184"/>
            <a:ext cx="6468683" cy="5451416"/>
          </a:xfrm>
          <a:prstGeom prst="rect">
            <a:avLst/>
          </a:prstGeom>
        </p:spPr>
      </p:pic>
      <p:sp>
        <p:nvSpPr>
          <p:cNvPr id="16" name="Rectangular Callout 15"/>
          <p:cNvSpPr/>
          <p:nvPr/>
        </p:nvSpPr>
        <p:spPr>
          <a:xfrm>
            <a:off x="2305050" y="3152775"/>
            <a:ext cx="2486025" cy="638175"/>
          </a:xfrm>
          <a:prstGeom prst="wedgeRectCallout">
            <a:avLst>
              <a:gd name="adj1" fmla="val 104838"/>
              <a:gd name="adj2" fmla="val 43097"/>
            </a:avLst>
          </a:prstGeom>
          <a:ln w="285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Classification</a:t>
            </a:r>
          </a:p>
        </p:txBody>
      </p:sp>
      <p:sp>
        <p:nvSpPr>
          <p:cNvPr id="17" name="Rectangular Callout 16"/>
          <p:cNvSpPr/>
          <p:nvPr/>
        </p:nvSpPr>
        <p:spPr>
          <a:xfrm>
            <a:off x="2305049" y="4543425"/>
            <a:ext cx="2486025" cy="638175"/>
          </a:xfrm>
          <a:prstGeom prst="wedgeRectCallout">
            <a:avLst>
              <a:gd name="adj1" fmla="val 103688"/>
              <a:gd name="adj2" fmla="val 34142"/>
            </a:avLst>
          </a:prstGeom>
          <a:ln w="285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Specification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7BA77-4639-010D-AFED-7358CDB845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Critical Systems Research Group</a:t>
            </a:r>
          </a:p>
        </p:txBody>
      </p:sp>
    </p:spTree>
    <p:extLst>
      <p:ext uri="{BB962C8B-B14F-4D97-AF65-F5344CB8AC3E}">
        <p14:creationId xmlns:p14="http://schemas.microsoft.com/office/powerpoint/2010/main" val="2200588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Critical Systems Research Group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/>
              <a:t>Use </a:t>
            </a:r>
            <a:r>
              <a:rPr lang="en-US" i="1"/>
              <a:t>Drawing Tools </a:t>
            </a:r>
            <a:r>
              <a:rPr lang="en-US" i="1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i="1"/>
              <a:t>Format </a:t>
            </a:r>
            <a:r>
              <a:rPr lang="en-US" i="1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i="1"/>
              <a:t>Insert Shapes </a:t>
            </a:r>
            <a:r>
              <a:rPr lang="en-US" i="1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i="1"/>
              <a:t>Combine Shapes </a:t>
            </a:r>
            <a:r>
              <a:rPr lang="en-US"/>
              <a:t>to </a:t>
            </a:r>
            <a:r>
              <a:rPr lang="en-US" i="1"/>
              <a:t>Union</a:t>
            </a:r>
            <a:r>
              <a:rPr lang="en-US"/>
              <a:t> or </a:t>
            </a:r>
            <a:r>
              <a:rPr lang="en-US" i="1"/>
              <a:t>Intersect</a:t>
            </a:r>
            <a:r>
              <a:rPr lang="en-US"/>
              <a:t> a triangle with a rectangle</a:t>
            </a:r>
          </a:p>
          <a:p>
            <a:r>
              <a:rPr lang="en-US"/>
              <a:t>Use the </a:t>
            </a:r>
            <a:r>
              <a:rPr lang="en-US">
                <a:solidFill>
                  <a:schemeClr val="accent1"/>
                </a:solidFill>
              </a:rPr>
              <a:t>triangle</a:t>
            </a:r>
            <a:r>
              <a:rPr lang="en-US"/>
              <a:t> from this slide to match the slope of the</a:t>
            </a:r>
            <a:br>
              <a:rPr lang="en-US"/>
            </a:br>
            <a:r>
              <a:rPr lang="en-US"/>
              <a:t>capital letter A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Trapezoid</a:t>
            </a:r>
          </a:p>
        </p:txBody>
      </p:sp>
      <p:sp>
        <p:nvSpPr>
          <p:cNvPr id="6" name="Right Triangle 5"/>
          <p:cNvSpPr/>
          <p:nvPr/>
        </p:nvSpPr>
        <p:spPr>
          <a:xfrm flipH="1">
            <a:off x="2096580" y="3616656"/>
            <a:ext cx="879093" cy="2251503"/>
          </a:xfrm>
          <a:prstGeom prst="rtTriangl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571165" y="3616656"/>
            <a:ext cx="2524836" cy="2251503"/>
          </a:xfrm>
          <a:prstGeom prst="rect">
            <a:avLst/>
          </a:prstGeom>
          <a:solidFill>
            <a:schemeClr val="accent1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6691492" y="3616655"/>
            <a:ext cx="3403929" cy="2251503"/>
          </a:xfrm>
          <a:custGeom>
            <a:avLst/>
            <a:gdLst>
              <a:gd name="connsiteX0" fmla="*/ 879093 w 3403929"/>
              <a:gd name="connsiteY0" fmla="*/ 0 h 2251503"/>
              <a:gd name="connsiteX1" fmla="*/ 3403929 w 3403929"/>
              <a:gd name="connsiteY1" fmla="*/ 0 h 2251503"/>
              <a:gd name="connsiteX2" fmla="*/ 3403929 w 3403929"/>
              <a:gd name="connsiteY2" fmla="*/ 2251503 h 2251503"/>
              <a:gd name="connsiteX3" fmla="*/ 879093 w 3403929"/>
              <a:gd name="connsiteY3" fmla="*/ 2251503 h 2251503"/>
              <a:gd name="connsiteX4" fmla="*/ 0 w 3403929"/>
              <a:gd name="connsiteY4" fmla="*/ 2251503 h 2251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03929" h="2251503">
                <a:moveTo>
                  <a:pt x="879093" y="0"/>
                </a:moveTo>
                <a:lnTo>
                  <a:pt x="3403929" y="0"/>
                </a:lnTo>
                <a:lnTo>
                  <a:pt x="3403929" y="2251503"/>
                </a:lnTo>
                <a:lnTo>
                  <a:pt x="879093" y="2251503"/>
                </a:lnTo>
                <a:lnTo>
                  <a:pt x="0" y="2251503"/>
                </a:lnTo>
                <a:close/>
              </a:path>
            </a:pathLst>
          </a:custGeom>
          <a:solidFill>
            <a:schemeClr val="accent1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3240D5-76BE-A504-7A03-4CE1261B7A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A28B9B-0C36-4B0C-9E4A-C3A158CBB1F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757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Critical Systems Research Group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/>
              <a:t>Position two copies of the (trapezoid) shape</a:t>
            </a:r>
            <a:br>
              <a:rPr lang="en-US"/>
            </a:br>
            <a:r>
              <a:rPr lang="en-US"/>
              <a:t>on top of each other</a:t>
            </a:r>
          </a:p>
          <a:p>
            <a:pPr lvl="1"/>
            <a:r>
              <a:rPr lang="en-US"/>
              <a:t>The right angled side of the trapezoid should touch</a:t>
            </a:r>
            <a:br>
              <a:rPr lang="en-US"/>
            </a:br>
            <a:r>
              <a:rPr lang="en-US"/>
              <a:t>the slide edge</a:t>
            </a:r>
          </a:p>
          <a:p>
            <a:r>
              <a:rPr lang="en-US"/>
              <a:t>For a 2.5 </a:t>
            </a:r>
            <a:r>
              <a:rPr lang="en-US" err="1"/>
              <a:t>pt</a:t>
            </a:r>
            <a:r>
              <a:rPr lang="en-US"/>
              <a:t> outline, reduce the size of the shape by 5 </a:t>
            </a:r>
            <a:r>
              <a:rPr lang="en-US" err="1"/>
              <a:t>pt</a:t>
            </a:r>
            <a:endParaRPr lang="en-US"/>
          </a:p>
          <a:p>
            <a:pPr lvl="1"/>
            <a:r>
              <a:rPr lang="en-US"/>
              <a:t>Make sure to keep the aspect ratio</a:t>
            </a:r>
          </a:p>
          <a:p>
            <a:r>
              <a:rPr lang="en-US"/>
              <a:t>Position the shape such that there is approximately 2.5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between the sloped sides of the trapezoids</a:t>
            </a:r>
          </a:p>
          <a:p>
            <a:r>
              <a:rPr lang="en-US"/>
              <a:t>Create a rectangle and </a:t>
            </a:r>
            <a:r>
              <a:rPr lang="en-US" i="1"/>
              <a:t>Union</a:t>
            </a:r>
            <a:r>
              <a:rPr lang="en-US"/>
              <a:t> it with the smaller trapezoid</a:t>
            </a:r>
            <a:br>
              <a:rPr lang="en-US"/>
            </a:br>
            <a:r>
              <a:rPr lang="en-US"/>
              <a:t>to let it touch the side of the slide again</a:t>
            </a:r>
          </a:p>
          <a:p>
            <a:r>
              <a:rPr lang="en-US"/>
              <a:t>Use </a:t>
            </a:r>
            <a:r>
              <a:rPr lang="en-US" i="1"/>
              <a:t>Fragment</a:t>
            </a:r>
            <a:r>
              <a:rPr lang="en-US"/>
              <a:t> to subtract the smaller shape from the outer one</a:t>
            </a:r>
          </a:p>
          <a:p>
            <a:r>
              <a:rPr lang="en-US"/>
              <a:t>A third copy of the (large) trapezoid is needed to add text inside</a:t>
            </a:r>
          </a:p>
          <a:p>
            <a:pPr lvl="1"/>
            <a:r>
              <a:rPr lang="en-US"/>
              <a:t>Remove its fill and outline, apply 0.3 in margin to clear the text of the angled side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exact outlines</a:t>
            </a:r>
          </a:p>
        </p:txBody>
      </p:sp>
      <p:sp>
        <p:nvSpPr>
          <p:cNvPr id="13" name="Freeform 12"/>
          <p:cNvSpPr/>
          <p:nvPr/>
        </p:nvSpPr>
        <p:spPr>
          <a:xfrm>
            <a:off x="8451012" y="856311"/>
            <a:ext cx="3740988" cy="876910"/>
          </a:xfrm>
          <a:custGeom>
            <a:avLst/>
            <a:gdLst>
              <a:gd name="connsiteX0" fmla="*/ 344624 w 3740988"/>
              <a:gd name="connsiteY0" fmla="*/ 0 h 876910"/>
              <a:gd name="connsiteX1" fmla="*/ 3740988 w 3740988"/>
              <a:gd name="connsiteY1" fmla="*/ 0 h 876910"/>
              <a:gd name="connsiteX2" fmla="*/ 3740988 w 3740988"/>
              <a:gd name="connsiteY2" fmla="*/ 31293 h 876910"/>
              <a:gd name="connsiteX3" fmla="*/ 366715 w 3740988"/>
              <a:gd name="connsiteY3" fmla="*/ 31293 h 876910"/>
              <a:gd name="connsiteX4" fmla="*/ 46687 w 3740988"/>
              <a:gd name="connsiteY4" fmla="*/ 845617 h 876910"/>
              <a:gd name="connsiteX5" fmla="*/ 3740988 w 3740988"/>
              <a:gd name="connsiteY5" fmla="*/ 845617 h 876910"/>
              <a:gd name="connsiteX6" fmla="*/ 3740988 w 3740988"/>
              <a:gd name="connsiteY6" fmla="*/ 876910 h 876910"/>
              <a:gd name="connsiteX7" fmla="*/ 0 w 3740988"/>
              <a:gd name="connsiteY7" fmla="*/ 876910 h 87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40988" h="876910">
                <a:moveTo>
                  <a:pt x="344624" y="0"/>
                </a:moveTo>
                <a:lnTo>
                  <a:pt x="3740988" y="0"/>
                </a:lnTo>
                <a:lnTo>
                  <a:pt x="3740988" y="31293"/>
                </a:lnTo>
                <a:lnTo>
                  <a:pt x="366715" y="31293"/>
                </a:lnTo>
                <a:lnTo>
                  <a:pt x="46687" y="845617"/>
                </a:lnTo>
                <a:lnTo>
                  <a:pt x="3740988" y="845617"/>
                </a:lnTo>
                <a:lnTo>
                  <a:pt x="3740988" y="876910"/>
                </a:lnTo>
                <a:lnTo>
                  <a:pt x="0" y="87691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ular Callout 14"/>
          <p:cNvSpPr/>
          <p:nvPr/>
        </p:nvSpPr>
        <p:spPr>
          <a:xfrm>
            <a:off x="9311269" y="2077102"/>
            <a:ext cx="2665142" cy="1457836"/>
          </a:xfrm>
          <a:prstGeom prst="wedgeRectCallout">
            <a:avLst>
              <a:gd name="adj1" fmla="val 23651"/>
              <a:gd name="adj2" fmla="val -87170"/>
            </a:avLst>
          </a:prstGeom>
          <a:solidFill>
            <a:schemeClr val="bg1"/>
          </a:solidFill>
          <a:ln w="28575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Use outlines like this for </a:t>
            </a:r>
            <a:r>
              <a:rPr lang="en-US" sz="2000">
                <a:solidFill>
                  <a:schemeClr val="accent1"/>
                </a:solidFill>
              </a:rPr>
              <a:t>mild</a:t>
            </a:r>
            <a:r>
              <a:rPr lang="en-US" sz="2000">
                <a:solidFill>
                  <a:schemeClr val="tx1"/>
                </a:solidFill>
              </a:rPr>
              <a:t> emphasis,</a:t>
            </a:r>
            <a:br>
              <a:rPr lang="en-US" sz="2000">
                <a:solidFill>
                  <a:schemeClr val="tx1"/>
                </a:solidFill>
              </a:rPr>
            </a:br>
            <a:r>
              <a:rPr lang="en-US" sz="2000">
                <a:solidFill>
                  <a:schemeClr val="tx1"/>
                </a:solidFill>
              </a:rPr>
              <a:t>filled trapezoids for </a:t>
            </a:r>
            <a:r>
              <a:rPr lang="en-US" sz="2000" b="1">
                <a:solidFill>
                  <a:schemeClr val="tx1"/>
                </a:solidFill>
              </a:rPr>
              <a:t>heavy</a:t>
            </a:r>
            <a:r>
              <a:rPr lang="en-US" sz="2000">
                <a:solidFill>
                  <a:schemeClr val="tx1"/>
                </a:solidFill>
              </a:rPr>
              <a:t> emphasis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258996-A90C-8493-1DA7-DCDDDE951A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A28B9B-0C36-4B0C-9E4A-C3A158CBB1F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89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3A1E5DE-1876-4437-B8D5-03FF5AB8B215}"/>
              </a:ext>
            </a:extLst>
          </p:cNvPr>
          <p:cNvGrpSpPr/>
          <p:nvPr/>
        </p:nvGrpSpPr>
        <p:grpSpPr>
          <a:xfrm>
            <a:off x="1073249" y="2428726"/>
            <a:ext cx="10405578" cy="2000548"/>
            <a:chOff x="677464" y="2321069"/>
            <a:chExt cx="10405578" cy="2000548"/>
          </a:xfrm>
        </p:grpSpPr>
        <p:pic>
          <p:nvPicPr>
            <p:cNvPr id="5" name="Kép 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5840" t="31988" r="17853" b="32272"/>
            <a:stretch/>
          </p:blipFill>
          <p:spPr>
            <a:xfrm>
              <a:off x="677464" y="2421682"/>
              <a:ext cx="3121452" cy="167788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20BDB54-6CEF-4FBF-A919-3ABE8F4E9637}"/>
                </a:ext>
              </a:extLst>
            </p:cNvPr>
            <p:cNvSpPr txBox="1"/>
            <p:nvPr/>
          </p:nvSpPr>
          <p:spPr>
            <a:xfrm>
              <a:off x="4091878" y="2321069"/>
              <a:ext cx="6991164" cy="2000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i="1">
                  <a:solidFill>
                    <a:schemeClr val="bg1"/>
                  </a:solidFill>
                  <a:latin typeface="Muli ExtraBold" panose="00000900000000000000" pitchFamily="2" charset="-18"/>
                </a:rPr>
                <a:t>Critical Systems Research Group</a:t>
              </a:r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E1ECAA-C611-526F-77F8-D49590B04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Critical Systems Research Group</a:t>
            </a:r>
            <a:endParaRPr lang="hu-HU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9B6AA89-76DF-09AE-5160-D5274A7EDF99}"/>
              </a:ext>
            </a:extLst>
          </p:cNvPr>
          <p:cNvGrpSpPr/>
          <p:nvPr/>
        </p:nvGrpSpPr>
        <p:grpSpPr>
          <a:xfrm>
            <a:off x="1464714" y="5979101"/>
            <a:ext cx="3470784" cy="540000"/>
            <a:chOff x="336220" y="5979101"/>
            <a:chExt cx="3470784" cy="54000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2FFD1FC-3142-BDBC-8CC5-23757B399B11}"/>
                </a:ext>
              </a:extLst>
            </p:cNvPr>
            <p:cNvSpPr txBox="1"/>
            <p:nvPr/>
          </p:nvSpPr>
          <p:spPr>
            <a:xfrm>
              <a:off x="956712" y="6018269"/>
              <a:ext cx="28502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>
                  <a:solidFill>
                    <a:schemeClr val="bg1"/>
                  </a:solidFill>
                </a:rPr>
                <a:t>ftsrg.mit.bme.hu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FBF12C-73AC-CB91-4077-2B3306DBDE51}"/>
                </a:ext>
              </a:extLst>
            </p:cNvPr>
            <p:cNvGrpSpPr/>
            <p:nvPr/>
          </p:nvGrpSpPr>
          <p:grpSpPr>
            <a:xfrm>
              <a:off x="336220" y="5979101"/>
              <a:ext cx="540000" cy="540000"/>
              <a:chOff x="1822750" y="4695980"/>
              <a:chExt cx="360000" cy="360000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34941225-E330-8A61-DD5D-9393EB997A92}"/>
                  </a:ext>
                </a:extLst>
              </p:cNvPr>
              <p:cNvSpPr/>
              <p:nvPr/>
            </p:nvSpPr>
            <p:spPr>
              <a:xfrm>
                <a:off x="1822750" y="4695980"/>
                <a:ext cx="360000" cy="360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u-HU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pic>
            <p:nvPicPr>
              <p:cNvPr id="12" name="Graphic 11" descr="World with solid fill">
                <a:extLst>
                  <a:ext uri="{FF2B5EF4-FFF2-40B4-BE49-F238E27FC236}">
                    <a16:creationId xmlns:a16="http://schemas.microsoft.com/office/drawing/2014/main" id="{5C8BCA9F-724A-6DF2-02E0-AC953DC27B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40750" y="4713980"/>
                <a:ext cx="324000" cy="324000"/>
              </a:xfrm>
              <a:prstGeom prst="rect">
                <a:avLst/>
              </a:prstGeom>
            </p:spPr>
          </p:pic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FD99480-7693-6175-A4A0-35BDE3FD58C0}"/>
              </a:ext>
            </a:extLst>
          </p:cNvPr>
          <p:cNvGrpSpPr/>
          <p:nvPr/>
        </p:nvGrpSpPr>
        <p:grpSpPr>
          <a:xfrm>
            <a:off x="6151479" y="5979101"/>
            <a:ext cx="1725136" cy="540000"/>
            <a:chOff x="4897556" y="5979101"/>
            <a:chExt cx="1725136" cy="54000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F0A183A-B2C2-21A3-D950-CAD4CF1DBF8B}"/>
                </a:ext>
              </a:extLst>
            </p:cNvPr>
            <p:cNvSpPr txBox="1"/>
            <p:nvPr/>
          </p:nvSpPr>
          <p:spPr>
            <a:xfrm>
              <a:off x="5423156" y="6018269"/>
              <a:ext cx="11995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>
                  <a:solidFill>
                    <a:schemeClr val="bg1"/>
                  </a:solidFill>
                </a:rPr>
                <a:t>ftsrg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5BF05E4-9DEC-B607-14C9-EFDC4A07B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97556" y="5979101"/>
              <a:ext cx="525600" cy="5400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591D3A2-3687-AA81-FC94-FCA3EB450056}"/>
              </a:ext>
            </a:extLst>
          </p:cNvPr>
          <p:cNvGrpSpPr/>
          <p:nvPr/>
        </p:nvGrpSpPr>
        <p:grpSpPr>
          <a:xfrm>
            <a:off x="9076151" y="5984120"/>
            <a:ext cx="1739536" cy="540000"/>
            <a:chOff x="10452464" y="5979101"/>
            <a:chExt cx="1739536" cy="54000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E503F4B-4D09-AC81-EFC8-FD8FA011BC1C}"/>
                </a:ext>
              </a:extLst>
            </p:cNvPr>
            <p:cNvSpPr txBox="1"/>
            <p:nvPr/>
          </p:nvSpPr>
          <p:spPr>
            <a:xfrm>
              <a:off x="10992464" y="6018269"/>
              <a:ext cx="11995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ftsrg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61BD25C-0CEB-8E08-0BCA-F76376076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52464" y="5979101"/>
              <a:ext cx="540000" cy="540000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0615FA-4403-24C6-158A-0D5C3DB53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28B9B-0C36-4B0C-9E4A-C3A158CBB1F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86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>
        <p:wipe dir="r"/>
      </p:transition>
    </mc:Choice>
    <mc:Fallback xmlns="">
      <p:transition advTm="3000">
        <p:wipe dir="r"/>
      </p:transition>
    </mc:Fallback>
  </mc:AlternateContent>
</p:sld>
</file>

<file path=ppt/theme/theme1.xml><?xml version="1.0" encoding="utf-8"?>
<a:theme xmlns:a="http://schemas.openxmlformats.org/drawingml/2006/main" name="FTSRG">
  <a:themeElements>
    <a:clrScheme name="FTSRG">
      <a:dk1>
        <a:srgbClr val="000000"/>
      </a:dk1>
      <a:lt1>
        <a:srgbClr val="FFFFFF"/>
      </a:lt1>
      <a:dk2>
        <a:srgbClr val="2F2D2E"/>
      </a:dk2>
      <a:lt2>
        <a:srgbClr val="A7A8A7"/>
      </a:lt2>
      <a:accent1>
        <a:srgbClr val="1446A0"/>
      </a:accent1>
      <a:accent2>
        <a:srgbClr val="960018"/>
      </a:accent2>
      <a:accent3>
        <a:srgbClr val="522B47"/>
      </a:accent3>
      <a:accent4>
        <a:srgbClr val="FB8B24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TSRG">
      <a:majorFont>
        <a:latin typeface="Open Sans Extra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cee7b21-b760-4401-96ef-74da0c12b547">
      <Terms xmlns="http://schemas.microsoft.com/office/infopath/2007/PartnerControls"/>
    </lcf76f155ced4ddcb4097134ff3c332f>
    <TaxCatchAll xmlns="66fea738-b356-47ee-9ac9-90f9573d8e9a" xsi:nil="true"/>
    <sdf xmlns="ccee7b21-b760-4401-96ef-74da0c12b54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574B1FC5CE7D419C037DC6AB881D60" ma:contentTypeVersion="19" ma:contentTypeDescription="Create a new document." ma:contentTypeScope="" ma:versionID="3d44be5d0c65bfff536269aa3a1cfc73">
  <xsd:schema xmlns:xsd="http://www.w3.org/2001/XMLSchema" xmlns:xs="http://www.w3.org/2001/XMLSchema" xmlns:p="http://schemas.microsoft.com/office/2006/metadata/properties" xmlns:ns2="ccee7b21-b760-4401-96ef-74da0c12b547" xmlns:ns3="66fea738-b356-47ee-9ac9-90f9573d8e9a" targetNamespace="http://schemas.microsoft.com/office/2006/metadata/properties" ma:root="true" ma:fieldsID="83963ac12f21a91d976098a73dd2cccb" ns2:_="" ns3:_="">
    <xsd:import namespace="ccee7b21-b760-4401-96ef-74da0c12b547"/>
    <xsd:import namespace="66fea738-b356-47ee-9ac9-90f9573d8e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  <xsd:element ref="ns2:sd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ee7b21-b760-4401-96ef-74da0c12b5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1d0beb6-f273-48e7-85d4-dac867ddce3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sdf" ma:index="25" nillable="true" ma:displayName="sdf" ma:internalName="sdf">
      <xsd:simpleType>
        <xsd:restriction base="dms:Choice">
          <xsd:enumeration value="Choice 1"/>
          <xsd:enumeration value="Choice 2"/>
          <xsd:enumeration value="Choice 3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fea738-b356-47ee-9ac9-90f9573d8e9a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9cf67fa8-9b72-45f6-9148-7a40392f5571}" ma:internalName="TaxCatchAll" ma:showField="CatchAllData" ma:web="66fea738-b356-47ee-9ac9-90f9573d8e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B0AFFE-A891-47BE-BDBC-2075C6CECABC}">
  <ds:schemaRefs>
    <ds:schemaRef ds:uri="66fea738-b356-47ee-9ac9-90f9573d8e9a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ccee7b21-b760-4401-96ef-74da0c12b547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0774F88-A0FC-4535-A368-583B9347C3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E5A5A2-8AC0-44AE-81C6-B89A1A1697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ee7b21-b760-4401-96ef-74da0c12b547"/>
    <ds:schemaRef ds:uri="66fea738-b356-47ee-9ac9-90f9573d8e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648</Words>
  <Application>Microsoft Office PowerPoint</Application>
  <PresentationFormat>Widescreen</PresentationFormat>
  <Paragraphs>133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Open Sans ExtraBold</vt:lpstr>
      <vt:lpstr>Calibri</vt:lpstr>
      <vt:lpstr>Open Sans</vt:lpstr>
      <vt:lpstr>Arial</vt:lpstr>
      <vt:lpstr>Muli ExtraBold</vt:lpstr>
      <vt:lpstr>FTSRG</vt:lpstr>
      <vt:lpstr>Title</vt:lpstr>
      <vt:lpstr>Magyar címdia </vt:lpstr>
      <vt:lpstr>Title</vt:lpstr>
      <vt:lpstr>Main topics of the course</vt:lpstr>
      <vt:lpstr>Table of contents</vt:lpstr>
      <vt:lpstr>Learning outcomes</vt:lpstr>
      <vt:lpstr>Attributes of dependability</vt:lpstr>
      <vt:lpstr>Table of contents</vt:lpstr>
      <vt:lpstr>Table of contents</vt:lpstr>
      <vt:lpstr>Characterizing system services</vt:lpstr>
      <vt:lpstr>Characterizing system services</vt:lpstr>
      <vt:lpstr>Generalization</vt:lpstr>
      <vt:lpstr>Trapezoid</vt:lpstr>
      <vt:lpstr>Creating exact outlines</vt:lpstr>
      <vt:lpstr>PowerPoint Presentation</vt:lpstr>
    </vt:vector>
  </TitlesOfParts>
  <Company>BME MIT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Critical Systems Research Group</dc:title>
  <dc:creator/>
  <cp:lastModifiedBy>M</cp:lastModifiedBy>
  <cp:revision>9</cp:revision>
  <dcterms:created xsi:type="dcterms:W3CDTF">2019-09-05T14:22:57Z</dcterms:created>
  <dcterms:modified xsi:type="dcterms:W3CDTF">2026-06-02T11:48:14Z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0x0101009D574B1FC5CE7D419C037DC6AB881D60</vt:lpwstr>
  </property>
  <property fmtid="{D5CDD505-2E9C-101B-9397-08002B2CF9AE}" pid="3" name="MediaServiceImageTags">
    <vt:lpwstr/>
  </property>
</Properties>
</file>